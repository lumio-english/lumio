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My Family. Goal: Name family members.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"mom" x2, choral repeat x3. Meaning: ماما. Sentence: I love my mom..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"dad" x2, choral repeat x3. Meaning: بابا. Sentence: My dad is kind..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"brother" x2, choral repeat x3. Meaning: أخ. Sentence: My brother plays ball..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"sister" x2, choral repeat x3. Meaning: أخت. Sentence: My sister reads books..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"baby" x2, choral repeat x3. Meaning: طفل رضيع. Sentence: The baby is small..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"grandma" x2, choral repeat x3. Meaning: جدة. Sentence: Grandma makes cake..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"grandpa" x2, choral repeat x3. Meaning: جد. Sentence: Grandpa tells stories..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mom (ماما). Hint if needed: "m..."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dad (بابا).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brother (أخ).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grandma.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grandpa.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7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FAMILY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mom  •  dad  •  brother  •  sister  •  baby  •  grandma  •  grandpa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7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7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7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Name family members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My Family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mom  —  ماما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dad  —  بابا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brother  —  أخ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sister  —  أخت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baby  —  طفل رضيع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grandma  —  جدة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grandpa  —  جد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mom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mom</a:t>
            </a:r>
            <a:endParaRPr lang="en-US" sz="4600" dirty="0"/>
          </a:p>
        </p:txBody>
      </p:sp>
      <p:sp>
        <p:nvSpPr>
          <p:cNvPr id="24" name="Shape 21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5" name="Text 22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ماما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love my mom."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0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mom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love my mom."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ماما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dad</a:t>
            </a:r>
            <a:endParaRPr lang="en-US" sz="4600" dirty="0"/>
          </a:p>
        </p:txBody>
      </p:sp>
      <p:sp>
        <p:nvSpPr>
          <p:cNvPr id="24" name="Shape 21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5" name="Text 22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بابا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dad is kind."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0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dad is kind."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بابا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brother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0584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380" dirty="0"/>
          </a:p>
        </p:txBody>
      </p:sp>
      <p:sp>
        <p:nvSpPr>
          <p:cNvPr id="18" name="Shape 15"/>
          <p:cNvSpPr/>
          <p:nvPr/>
        </p:nvSpPr>
        <p:spPr>
          <a:xfrm>
            <a:off x="228600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22860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380" dirty="0"/>
          </a:p>
        </p:txBody>
      </p:sp>
      <p:sp>
        <p:nvSpPr>
          <p:cNvPr id="20" name="Shape 17"/>
          <p:cNvSpPr/>
          <p:nvPr/>
        </p:nvSpPr>
        <p:spPr>
          <a:xfrm>
            <a:off x="356616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5661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380" dirty="0"/>
          </a:p>
        </p:txBody>
      </p:sp>
      <p:sp>
        <p:nvSpPr>
          <p:cNvPr id="22" name="Shape 19"/>
          <p:cNvSpPr/>
          <p:nvPr/>
        </p:nvSpPr>
        <p:spPr>
          <a:xfrm>
            <a:off x="100584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380" dirty="0"/>
          </a:p>
        </p:txBody>
      </p:sp>
      <p:sp>
        <p:nvSpPr>
          <p:cNvPr id="24" name="Shape 21"/>
          <p:cNvSpPr/>
          <p:nvPr/>
        </p:nvSpPr>
        <p:spPr>
          <a:xfrm>
            <a:off x="228600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25" name="Text 22"/>
          <p:cNvSpPr/>
          <p:nvPr/>
        </p:nvSpPr>
        <p:spPr>
          <a:xfrm>
            <a:off x="228600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380" dirty="0"/>
          </a:p>
        </p:txBody>
      </p:sp>
      <p:sp>
        <p:nvSpPr>
          <p:cNvPr id="26" name="Shape 23"/>
          <p:cNvSpPr/>
          <p:nvPr/>
        </p:nvSpPr>
        <p:spPr>
          <a:xfrm>
            <a:off x="356616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356616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380" dirty="0"/>
          </a:p>
        </p:txBody>
      </p:sp>
      <p:sp>
        <p:nvSpPr>
          <p:cNvPr id="28" name="Shape 25"/>
          <p:cNvSpPr/>
          <p:nvPr/>
        </p:nvSpPr>
        <p:spPr>
          <a:xfrm>
            <a:off x="100584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100584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380" dirty="0"/>
          </a:p>
        </p:txBody>
      </p:sp>
      <p:sp>
        <p:nvSpPr>
          <p:cNvPr id="30" name="Shape 27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brother</a:t>
            </a:r>
            <a:endParaRPr lang="en-US" sz="4600" dirty="0"/>
          </a:p>
        </p:txBody>
      </p:sp>
      <p:sp>
        <p:nvSpPr>
          <p:cNvPr id="32" name="Shape 29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أخ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brother plays ball."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7" name="Text 34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8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brother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brother plays ball."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أخ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sister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18" name="Shape 15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0" name="Shape 17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22" name="Shape 19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3467" dirty="0"/>
          </a:p>
        </p:txBody>
      </p:sp>
      <p:sp>
        <p:nvSpPr>
          <p:cNvPr id="24" name="Shape 21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5" name="Text 22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6" name="Shape 23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28" name="Shape 25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sister</a:t>
            </a:r>
            <a:endParaRPr lang="en-US" sz="4600" dirty="0"/>
          </a:p>
        </p:txBody>
      </p:sp>
      <p:sp>
        <p:nvSpPr>
          <p:cNvPr id="30" name="Shape 27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أخت</a:t>
            </a:r>
            <a:endParaRPr lang="en-US" sz="2000" dirty="0"/>
          </a:p>
        </p:txBody>
      </p:sp>
      <p:sp>
        <p:nvSpPr>
          <p:cNvPr id="32" name="Shape 29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sister reads books."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5" name="Text 32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6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sister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sister reads books."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أخت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baby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18" name="Shape 15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20" name="Shape 17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35" dirty="0"/>
          </a:p>
        </p:txBody>
      </p:sp>
      <p:sp>
        <p:nvSpPr>
          <p:cNvPr id="22" name="Shape 19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2535" dirty="0"/>
          </a:p>
        </p:txBody>
      </p:sp>
      <p:sp>
        <p:nvSpPr>
          <p:cNvPr id="24" name="Shape 21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baby</a:t>
            </a:r>
            <a:endParaRPr lang="en-US" sz="4600" dirty="0"/>
          </a:p>
        </p:txBody>
      </p:sp>
      <p:sp>
        <p:nvSpPr>
          <p:cNvPr id="26" name="Shape 23"/>
          <p:cNvSpPr/>
          <p:nvPr/>
        </p:nvSpPr>
        <p:spPr>
          <a:xfrm>
            <a:off x="5824728" y="288036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7" name="Text 24"/>
          <p:cNvSpPr/>
          <p:nvPr/>
        </p:nvSpPr>
        <p:spPr>
          <a:xfrm>
            <a:off x="5824728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طفل رضيع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baby is small."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1" name="Text 28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2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baby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baby is small."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طفل رضيع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grandma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0584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380" dirty="0"/>
          </a:p>
        </p:txBody>
      </p:sp>
      <p:sp>
        <p:nvSpPr>
          <p:cNvPr id="18" name="Shape 15"/>
          <p:cNvSpPr/>
          <p:nvPr/>
        </p:nvSpPr>
        <p:spPr>
          <a:xfrm>
            <a:off x="228600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22860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380" dirty="0"/>
          </a:p>
        </p:txBody>
      </p:sp>
      <p:sp>
        <p:nvSpPr>
          <p:cNvPr id="20" name="Shape 17"/>
          <p:cNvSpPr/>
          <p:nvPr/>
        </p:nvSpPr>
        <p:spPr>
          <a:xfrm>
            <a:off x="356616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5661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380" dirty="0"/>
          </a:p>
        </p:txBody>
      </p:sp>
      <p:sp>
        <p:nvSpPr>
          <p:cNvPr id="22" name="Shape 19"/>
          <p:cNvSpPr/>
          <p:nvPr/>
        </p:nvSpPr>
        <p:spPr>
          <a:xfrm>
            <a:off x="100584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380" dirty="0"/>
          </a:p>
        </p:txBody>
      </p:sp>
      <p:sp>
        <p:nvSpPr>
          <p:cNvPr id="24" name="Shape 21"/>
          <p:cNvSpPr/>
          <p:nvPr/>
        </p:nvSpPr>
        <p:spPr>
          <a:xfrm>
            <a:off x="228600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25" name="Text 22"/>
          <p:cNvSpPr/>
          <p:nvPr/>
        </p:nvSpPr>
        <p:spPr>
          <a:xfrm>
            <a:off x="228600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380" dirty="0"/>
          </a:p>
        </p:txBody>
      </p:sp>
      <p:sp>
        <p:nvSpPr>
          <p:cNvPr id="26" name="Shape 23"/>
          <p:cNvSpPr/>
          <p:nvPr/>
        </p:nvSpPr>
        <p:spPr>
          <a:xfrm>
            <a:off x="356616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356616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380" dirty="0"/>
          </a:p>
        </p:txBody>
      </p:sp>
      <p:sp>
        <p:nvSpPr>
          <p:cNvPr id="28" name="Shape 25"/>
          <p:cNvSpPr/>
          <p:nvPr/>
        </p:nvSpPr>
        <p:spPr>
          <a:xfrm>
            <a:off x="100584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100584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380" dirty="0"/>
          </a:p>
        </p:txBody>
      </p:sp>
      <p:sp>
        <p:nvSpPr>
          <p:cNvPr id="30" name="Shape 27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grandma</a:t>
            </a:r>
            <a:endParaRPr lang="en-US" sz="4600" dirty="0"/>
          </a:p>
        </p:txBody>
      </p:sp>
      <p:sp>
        <p:nvSpPr>
          <p:cNvPr id="32" name="Shape 29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جدة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"Grandma makes cake."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7" name="Text 34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8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grandma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"Grandma makes cake."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جدة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grandpa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6" name="Shape 13"/>
          <p:cNvSpPr/>
          <p:nvPr/>
        </p:nvSpPr>
        <p:spPr>
          <a:xfrm>
            <a:off x="100584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17" name="Text 14"/>
          <p:cNvSpPr/>
          <p:nvPr/>
        </p:nvSpPr>
        <p:spPr>
          <a:xfrm>
            <a:off x="100584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3380" dirty="0"/>
          </a:p>
        </p:txBody>
      </p:sp>
      <p:sp>
        <p:nvSpPr>
          <p:cNvPr id="18" name="Shape 15"/>
          <p:cNvSpPr/>
          <p:nvPr/>
        </p:nvSpPr>
        <p:spPr>
          <a:xfrm>
            <a:off x="228600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228600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380" dirty="0"/>
          </a:p>
        </p:txBody>
      </p:sp>
      <p:sp>
        <p:nvSpPr>
          <p:cNvPr id="20" name="Shape 17"/>
          <p:cNvSpPr/>
          <p:nvPr/>
        </p:nvSpPr>
        <p:spPr>
          <a:xfrm>
            <a:off x="3566160" y="182880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566160" y="18288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380" dirty="0"/>
          </a:p>
        </p:txBody>
      </p:sp>
      <p:sp>
        <p:nvSpPr>
          <p:cNvPr id="22" name="Shape 19"/>
          <p:cNvSpPr/>
          <p:nvPr/>
        </p:nvSpPr>
        <p:spPr>
          <a:xfrm>
            <a:off x="100584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115E59"/>
          </a:solidFill>
          <a:ln/>
        </p:spPr>
      </p:sp>
      <p:sp>
        <p:nvSpPr>
          <p:cNvPr id="23" name="Text 20"/>
          <p:cNvSpPr/>
          <p:nvPr/>
        </p:nvSpPr>
        <p:spPr>
          <a:xfrm>
            <a:off x="100584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380" dirty="0"/>
          </a:p>
        </p:txBody>
      </p:sp>
      <p:sp>
        <p:nvSpPr>
          <p:cNvPr id="24" name="Shape 21"/>
          <p:cNvSpPr/>
          <p:nvPr/>
        </p:nvSpPr>
        <p:spPr>
          <a:xfrm>
            <a:off x="228600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C2410C"/>
          </a:solidFill>
          <a:ln/>
        </p:spPr>
      </p:sp>
      <p:sp>
        <p:nvSpPr>
          <p:cNvPr id="25" name="Text 22"/>
          <p:cNvSpPr/>
          <p:nvPr/>
        </p:nvSpPr>
        <p:spPr>
          <a:xfrm>
            <a:off x="228600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380" dirty="0"/>
          </a:p>
        </p:txBody>
      </p:sp>
      <p:sp>
        <p:nvSpPr>
          <p:cNvPr id="26" name="Shape 23"/>
          <p:cNvSpPr/>
          <p:nvPr/>
        </p:nvSpPr>
        <p:spPr>
          <a:xfrm>
            <a:off x="3566160" y="310896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</p:sp>
      <p:sp>
        <p:nvSpPr>
          <p:cNvPr id="27" name="Text 24"/>
          <p:cNvSpPr/>
          <p:nvPr/>
        </p:nvSpPr>
        <p:spPr>
          <a:xfrm>
            <a:off x="3566160" y="310896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380" dirty="0"/>
          </a:p>
        </p:txBody>
      </p:sp>
      <p:sp>
        <p:nvSpPr>
          <p:cNvPr id="28" name="Shape 25"/>
          <p:cNvSpPr/>
          <p:nvPr/>
        </p:nvSpPr>
        <p:spPr>
          <a:xfrm>
            <a:off x="1005840" y="4389120"/>
            <a:ext cx="1188720" cy="1188720"/>
          </a:xfrm>
          <a:prstGeom prst="roundRect">
            <a:avLst>
              <a:gd name="adj" fmla="val 7692"/>
            </a:avLst>
          </a:prstGeom>
          <a:solidFill>
            <a:srgbClr val="0D9488"/>
          </a:solidFill>
          <a:ln/>
        </p:spPr>
      </p:sp>
      <p:sp>
        <p:nvSpPr>
          <p:cNvPr id="29" name="Text 26"/>
          <p:cNvSpPr/>
          <p:nvPr/>
        </p:nvSpPr>
        <p:spPr>
          <a:xfrm>
            <a:off x="1005840" y="438912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8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380" dirty="0"/>
          </a:p>
        </p:txBody>
      </p:sp>
      <p:sp>
        <p:nvSpPr>
          <p:cNvPr id="30" name="Shape 27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grandpa</a:t>
            </a:r>
            <a:endParaRPr lang="en-US" sz="4600" dirty="0"/>
          </a:p>
        </p:txBody>
      </p:sp>
      <p:sp>
        <p:nvSpPr>
          <p:cNvPr id="32" name="Shape 29"/>
          <p:cNvSpPr/>
          <p:nvPr/>
        </p:nvSpPr>
        <p:spPr>
          <a:xfrm>
            <a:off x="5824728" y="2880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3" name="Text 30"/>
          <p:cNvSpPr/>
          <p:nvPr/>
        </p:nvSpPr>
        <p:spPr>
          <a:xfrm>
            <a:off x="5824728" y="2880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جد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"Grandpa tells stories."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7" name="Text 34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8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grandpa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"Grandpa tells stories."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جد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mom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dad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brother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sister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baby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grandma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grandpa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150876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150876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513" dirty="0"/>
          </a:p>
        </p:txBody>
      </p:sp>
      <p:sp>
        <p:nvSpPr>
          <p:cNvPr id="11" name="Shape 8"/>
          <p:cNvSpPr/>
          <p:nvPr/>
        </p:nvSpPr>
        <p:spPr>
          <a:xfrm>
            <a:off x="5638800" y="150876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638800" y="150876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13" dirty="0"/>
          </a:p>
        </p:txBody>
      </p:sp>
      <p:sp>
        <p:nvSpPr>
          <p:cNvPr id="13" name="Shape 10"/>
          <p:cNvSpPr/>
          <p:nvPr/>
        </p:nvSpPr>
        <p:spPr>
          <a:xfrm>
            <a:off x="6614160" y="150876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160" y="150876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2513" dirty="0"/>
          </a:p>
        </p:txBody>
      </p:sp>
      <p:sp>
        <p:nvSpPr>
          <p:cNvPr id="15" name="Shape 12"/>
          <p:cNvSpPr/>
          <p:nvPr/>
        </p:nvSpPr>
        <p:spPr>
          <a:xfrm>
            <a:off x="4663440" y="248412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248412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</a:t>
            </a:r>
            <a:endParaRPr lang="en-US" sz="2513" dirty="0"/>
          </a:p>
        </p:txBody>
      </p:sp>
      <p:sp>
        <p:nvSpPr>
          <p:cNvPr id="17" name="Shape 14"/>
          <p:cNvSpPr/>
          <p:nvPr/>
        </p:nvSpPr>
        <p:spPr>
          <a:xfrm>
            <a:off x="5638800" y="248412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C2410C"/>
          </a:solidFill>
          <a:ln/>
        </p:spPr>
      </p:sp>
      <p:sp>
        <p:nvSpPr>
          <p:cNvPr id="18" name="Text 15"/>
          <p:cNvSpPr/>
          <p:nvPr/>
        </p:nvSpPr>
        <p:spPr>
          <a:xfrm>
            <a:off x="5638800" y="248412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2513" dirty="0"/>
          </a:p>
        </p:txBody>
      </p:sp>
      <p:sp>
        <p:nvSpPr>
          <p:cNvPr id="19" name="Shape 16"/>
          <p:cNvSpPr/>
          <p:nvPr/>
        </p:nvSpPr>
        <p:spPr>
          <a:xfrm>
            <a:off x="6614160" y="248412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160" y="248412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13" dirty="0"/>
          </a:p>
        </p:txBody>
      </p:sp>
      <p:sp>
        <p:nvSpPr>
          <p:cNvPr id="21" name="Shape 18"/>
          <p:cNvSpPr/>
          <p:nvPr/>
        </p:nvSpPr>
        <p:spPr>
          <a:xfrm>
            <a:off x="4663440" y="3459480"/>
            <a:ext cx="883920" cy="883920"/>
          </a:xfrm>
          <a:prstGeom prst="roundRect">
            <a:avLst>
              <a:gd name="adj" fmla="val 10345"/>
            </a:avLst>
          </a:prstGeom>
          <a:solidFill>
            <a:srgbClr val="0D9488"/>
          </a:solidFill>
          <a:ln/>
        </p:spPr>
      </p:sp>
      <p:sp>
        <p:nvSpPr>
          <p:cNvPr id="22" name="Text 19"/>
          <p:cNvSpPr/>
          <p:nvPr/>
        </p:nvSpPr>
        <p:spPr>
          <a:xfrm>
            <a:off x="4663440" y="3459480"/>
            <a:ext cx="883920" cy="883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1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13" dirty="0"/>
          </a:p>
        </p:txBody>
      </p:sp>
      <p:sp>
        <p:nvSpPr>
          <p:cNvPr id="23" name="Text 20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24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"جدة"?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brother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grandma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mom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"جد"?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sister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grandpa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brother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10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27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10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10 — My Family</dc:title>
  <dc:subject>PptxGenJS Presentation</dc:subject>
  <dc:creator>Lumio English</dc:creator>
  <cp:lastModifiedBy>Lumio English</cp:lastModifiedBy>
  <cp:revision>1</cp:revision>
  <dcterms:created xsi:type="dcterms:W3CDTF">2026-07-14T08:11:25Z</dcterms:created>
  <dcterms:modified xsi:type="dcterms:W3CDTF">2026-07-14T08:11:25Z</dcterms:modified>
</cp:coreProperties>
</file>