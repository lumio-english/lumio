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the class. Today: My Name. Goal: Say your name and ask others.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Warm greeting. Set a positive, energetic tone.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goals aloud. Keep energy up.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2-3 minutes, high energy, physical movement.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Preview words quickly. Don't teach yet, just build excitement.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"name" x2, choral repeat x3. Meaning: اسم. Sentence: My name is Lumi..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Call on a student. Give first-sound hint if needed: "n..."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"I" x2, choral repeat x3. Meaning: أنا. Sentence: I am happy..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Call on a student. Give first-sound hint if needed: "I..."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"you" x2, choral repeat x3. Meaning: أنتَ / أنتِ. Sentence: You are my friend..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Call on a student. Give first-sound hint if needed: "y..."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"boy" x2, choral repeat x3. Meaning: ولد. Sentence: Omar is a boy..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Call on a student. Give first-sound hint if needed: "b..."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"girl" x2, choral repeat x3. Meaning: بنت. Sentence: Noor is a girl..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Call on a student. Give first-sound hint if needed: "g..."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"friend" x2, choral repeat x3. Meaning: صديق. Sentence: You are my friend!.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Call on a student. Give first-sound hint if needed: "f..."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and say each word, students repeat.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Call a student by name. Answer: name (اسم). Hint if needed: "n..."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Call a student by name. Answer: I (أنا). Hint if needed: "I..."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Call a student by name. Answer: you (أنتَ / أنتِ). Hint if needed: "y..."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Answer: name. Count down 5-4-3-2-1 for excitement.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Answer: girl. Count down 5-4-3-2-1 for excitement.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Answer: friend. Count down 5-4-3-2-1 for excitement.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Celebrate! Praise students by name if time allows.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Assign homework. Warm goodbye.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2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2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2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25-3.png"/><Relationship Id="rId4" Type="http://schemas.openxmlformats.org/officeDocument/2006/relationships/image" Target="../media/image-2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26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Shape 2"/>
          <p:cNvSpPr/>
          <p:nvPr/>
        </p:nvSpPr>
        <p:spPr>
          <a:xfrm>
            <a:off x="10771632" y="320040"/>
            <a:ext cx="960120" cy="96012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0771632" y="32004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8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LESSON
</a:t>
            </a:r>
            <a:endParaRPr lang="en-US" sz="800" dirty="0"/>
          </a:p>
          <a:p>
            <a:pPr algn="ctr" indent="0" marL="0">
              <a:lnSpc>
                <a:spcPts val="1800"/>
              </a:lnSpc>
              <a:buNone/>
            </a:pPr>
            <a:r>
              <a:rPr lang="en-US" sz="2400" b="1" dirty="0">
                <a:solidFill>
                  <a:srgbClr val="F97316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2</a:t>
            </a:r>
            <a:endParaRPr lang="en-US" sz="800" dirty="0"/>
          </a:p>
        </p:txBody>
      </p:sp>
      <p:sp>
        <p:nvSpPr>
          <p:cNvPr id="7" name="Shape 4"/>
          <p:cNvSpPr/>
          <p:nvPr/>
        </p:nvSpPr>
        <p:spPr>
          <a:xfrm>
            <a:off x="548640" y="4160520"/>
            <a:ext cx="6035040" cy="2286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68680" y="4343400"/>
            <a:ext cx="5486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97316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MY NAME</a:t>
            </a:r>
            <a:endParaRPr lang="en-US" sz="3200" dirty="0"/>
          </a:p>
        </p:txBody>
      </p:sp>
      <p:sp>
        <p:nvSpPr>
          <p:cNvPr id="9" name="Text 6"/>
          <p:cNvSpPr/>
          <p:nvPr/>
        </p:nvSpPr>
        <p:spPr>
          <a:xfrm>
            <a:off x="868680" y="5166360"/>
            <a:ext cx="5394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name  •  I  •  you  •  boy  •  girl  •  friend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868680" y="5806440"/>
            <a:ext cx="420624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11" name="Text 8"/>
          <p:cNvSpPr/>
          <p:nvPr/>
        </p:nvSpPr>
        <p:spPr>
          <a:xfrm>
            <a:off x="868680" y="580644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PRE-A LEVEL  ·  6 NEW WORDS</a:t>
            </a:r>
            <a:endParaRPr lang="en-US" sz="1100" dirty="0"/>
          </a:p>
        </p:txBody>
      </p:sp>
      <p:pic>
        <p:nvPicPr>
          <p:cNvPr id="12" name="Image 1" descr="/home/claude/Lumio-English/assets/scenes/chars/lumi-her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3760" y="1854802"/>
            <a:ext cx="4480560" cy="482031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Welcome to Lumio English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2 / 26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2514600" y="1051560"/>
            <a:ext cx="7132320" cy="51206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880360" y="128016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97316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Hello, little star!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2880360" y="2148840"/>
            <a:ext cx="6400800" cy="0"/>
          </a:xfrm>
          <a:prstGeom prst="line">
            <a:avLst/>
          </a:prstGeom>
          <a:noFill/>
          <a:ln w="15875">
            <a:solidFill>
              <a:srgbClr val="EEE2D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880360" y="2286000"/>
            <a:ext cx="64008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Teacher says:
</a:t>
            </a:r>
            <a:endParaRPr lang="en-US" sz="17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"Hello! Today we learn 6 new words!"
</a:t>
            </a:r>
            <a:endParaRPr lang="en-US" sz="1700" dirty="0"/>
          </a:p>
        </p:txBody>
      </p:sp>
      <p:pic>
        <p:nvPicPr>
          <p:cNvPr id="11" name="Image 1" descr="/home/claude/Lumio-English/assets/scenes/chars/lumi-wave-boo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4309039"/>
            <a:ext cx="2057400" cy="2274641"/>
          </a:xfrm>
          <a:prstGeom prst="rect">
            <a:avLst/>
          </a:prstGeom>
        </p:spPr>
      </p:pic>
      <p:pic>
        <p:nvPicPr>
          <p:cNvPr id="12" name="Image 2" descr="/home/claude/Lumio-English/assets/scenes/chars/sara-wav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00903" y="2926080"/>
            <a:ext cx="1942626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Today's Goals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3 / 26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2514600" y="1051560"/>
            <a:ext cx="7132320" cy="51206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880360" y="128016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By the end, you will: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2880360" y="2148840"/>
            <a:ext cx="6400800" cy="0"/>
          </a:xfrm>
          <a:prstGeom prst="line">
            <a:avLst/>
          </a:prstGeom>
          <a:noFill/>
          <a:ln w="15875">
            <a:solidFill>
              <a:srgbClr val="EEE2D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880360" y="2286000"/>
            <a:ext cx="64008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1. Say 6 new words
</a:t>
            </a:r>
            <a:endParaRPr lang="en-US" sz="17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2. Say your name and ask others
</a:t>
            </a:r>
            <a:endParaRPr lang="en-US" sz="17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3. Play games and earn stars
</a:t>
            </a:r>
            <a:endParaRPr lang="en-US" sz="1700" dirty="0"/>
          </a:p>
        </p:txBody>
      </p:sp>
      <p:pic>
        <p:nvPicPr>
          <p:cNvPr id="11" name="Image 1" descr="/home/claude/Lumio-English/assets/scenes/chars/lumi-book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3572244"/>
            <a:ext cx="2057400" cy="3011436"/>
          </a:xfrm>
          <a:prstGeom prst="rect">
            <a:avLst/>
          </a:prstGeom>
        </p:spPr>
      </p:pic>
      <p:pic>
        <p:nvPicPr>
          <p:cNvPr id="12" name="Image 2" descr="/home/claude/Lumio-English/assets/scenes/chars/sara-teach-boar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29800" y="4463661"/>
            <a:ext cx="2084832" cy="212001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Warm-up • My Name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4 / 26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2514600" y="1051560"/>
            <a:ext cx="7132320" cy="51206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880360" y="128016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97316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Let's get ready!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2880360" y="2148840"/>
            <a:ext cx="6400800" cy="0"/>
          </a:xfrm>
          <a:prstGeom prst="line">
            <a:avLst/>
          </a:prstGeom>
          <a:noFill/>
          <a:ln w="15875">
            <a:solidFill>
              <a:srgbClr val="EEE2D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880360" y="2286000"/>
            <a:ext cx="64008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Stand up and stretch!
</a:t>
            </a:r>
            <a:endParaRPr lang="en-US" sz="17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Say hello to a friend.
</a:t>
            </a:r>
            <a:endParaRPr lang="en-US" sz="17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Clap your hands three times!
</a:t>
            </a:r>
            <a:endParaRPr lang="en-US" sz="1700" dirty="0"/>
          </a:p>
        </p:txBody>
      </p:sp>
      <p:pic>
        <p:nvPicPr>
          <p:cNvPr id="11" name="Image 1" descr="/home/claude/Lumio-English/assets/scenes/chars/omar-happ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911" y="2926080"/>
            <a:ext cx="1766217" cy="3657600"/>
          </a:xfrm>
          <a:prstGeom prst="rect">
            <a:avLst/>
          </a:prstGeom>
        </p:spPr>
      </p:pic>
      <p:pic>
        <p:nvPicPr>
          <p:cNvPr id="12" name="Image 2" descr="/home/claude/Lumio-English/assets/scenes/chars/noor-jump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29800" y="3576250"/>
            <a:ext cx="2084832" cy="300743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Words for Today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5 / 26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2514600" y="1051560"/>
            <a:ext cx="7132320" cy="51206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880360" y="128016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6 new words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2880360" y="2148840"/>
            <a:ext cx="6400800" cy="0"/>
          </a:xfrm>
          <a:prstGeom prst="line">
            <a:avLst/>
          </a:prstGeom>
          <a:noFill/>
          <a:ln w="15875">
            <a:solidFill>
              <a:srgbClr val="EEE2D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880360" y="2286000"/>
            <a:ext cx="64008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name  —  اسم
</a:t>
            </a:r>
            <a:endParaRPr lang="en-US" sz="17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I  —  أنا
</a:t>
            </a:r>
            <a:endParaRPr lang="en-US" sz="17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you  —  أنتَ / أنتِ
</a:t>
            </a:r>
            <a:endParaRPr lang="en-US" sz="17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boy  —  ولد
</a:t>
            </a:r>
            <a:endParaRPr lang="en-US" sz="17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girl  —  بنت
</a:t>
            </a:r>
            <a:endParaRPr lang="en-US" sz="17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friend  —  صديق
</a:t>
            </a:r>
            <a:endParaRPr lang="en-US" sz="1700" dirty="0"/>
          </a:p>
        </p:txBody>
      </p:sp>
      <p:pic>
        <p:nvPicPr>
          <p:cNvPr id="11" name="Image 1" descr="/home/claude/Lumio-English/assets/scenes/chars/lumi-teach-boar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29800" y="4359143"/>
            <a:ext cx="2084832" cy="222453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Vocabulary • name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6 / 26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965960" y="960120"/>
            <a:ext cx="182880" cy="18288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8" name="Shape 5"/>
          <p:cNvSpPr/>
          <p:nvPr/>
        </p:nvSpPr>
        <p:spPr>
          <a:xfrm>
            <a:off x="224028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9" name="Shape 6"/>
          <p:cNvSpPr/>
          <p:nvPr/>
        </p:nvSpPr>
        <p:spPr>
          <a:xfrm>
            <a:off x="251460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0" name="Shape 7"/>
          <p:cNvSpPr/>
          <p:nvPr/>
        </p:nvSpPr>
        <p:spPr>
          <a:xfrm>
            <a:off x="278892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1" name="Shape 8"/>
          <p:cNvSpPr/>
          <p:nvPr/>
        </p:nvSpPr>
        <p:spPr>
          <a:xfrm>
            <a:off x="306324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2" name="Shape 9"/>
          <p:cNvSpPr/>
          <p:nvPr/>
        </p:nvSpPr>
        <p:spPr>
          <a:xfrm>
            <a:off x="333756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3" name="Shape 10"/>
          <p:cNvSpPr/>
          <p:nvPr/>
        </p:nvSpPr>
        <p:spPr>
          <a:xfrm>
            <a:off x="548640" y="1417320"/>
            <a:ext cx="4663440" cy="4572000"/>
          </a:xfrm>
          <a:prstGeom prst="roundRect">
            <a:avLst>
              <a:gd name="adj" fmla="val 3200"/>
            </a:avLst>
          </a:prstGeom>
          <a:solidFill>
            <a:srgbClr val="FFF8F0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85800" y="1554480"/>
            <a:ext cx="4389120" cy="4297680"/>
          </a:xfrm>
          <a:prstGeom prst="roundRect">
            <a:avLst>
              <a:gd name="adj" fmla="val 2553"/>
            </a:avLst>
          </a:prstGeom>
          <a:solidFill>
            <a:srgbClr val="FFF8F0"/>
          </a:solidFill>
          <a:ln/>
        </p:spPr>
      </p:sp>
      <p:sp>
        <p:nvSpPr>
          <p:cNvPr id="15" name="Shape 12"/>
          <p:cNvSpPr/>
          <p:nvPr/>
        </p:nvSpPr>
        <p:spPr>
          <a:xfrm>
            <a:off x="960120" y="3257550"/>
            <a:ext cx="891540" cy="891540"/>
          </a:xfrm>
          <a:prstGeom prst="roundRect">
            <a:avLst>
              <a:gd name="adj" fmla="val 10256"/>
            </a:avLst>
          </a:prstGeom>
          <a:solidFill>
            <a:srgbClr val="F97316"/>
          </a:solidFill>
          <a:ln/>
        </p:spPr>
      </p:sp>
      <p:sp>
        <p:nvSpPr>
          <p:cNvPr id="16" name="Text 13"/>
          <p:cNvSpPr/>
          <p:nvPr/>
        </p:nvSpPr>
        <p:spPr>
          <a:xfrm>
            <a:off x="960120" y="3257550"/>
            <a:ext cx="891540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35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N</a:t>
            </a:r>
            <a:endParaRPr lang="en-US" sz="2535" dirty="0"/>
          </a:p>
        </p:txBody>
      </p:sp>
      <p:sp>
        <p:nvSpPr>
          <p:cNvPr id="17" name="Shape 14"/>
          <p:cNvSpPr/>
          <p:nvPr/>
        </p:nvSpPr>
        <p:spPr>
          <a:xfrm>
            <a:off x="1943100" y="3257550"/>
            <a:ext cx="891540" cy="891540"/>
          </a:xfrm>
          <a:prstGeom prst="roundRect">
            <a:avLst>
              <a:gd name="adj" fmla="val 10256"/>
            </a:avLst>
          </a:prstGeom>
          <a:solidFill>
            <a:srgbClr val="0D9488"/>
          </a:solidFill>
          <a:ln/>
        </p:spPr>
      </p:sp>
      <p:sp>
        <p:nvSpPr>
          <p:cNvPr id="18" name="Text 15"/>
          <p:cNvSpPr/>
          <p:nvPr/>
        </p:nvSpPr>
        <p:spPr>
          <a:xfrm>
            <a:off x="1943100" y="3257550"/>
            <a:ext cx="891540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35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A</a:t>
            </a:r>
            <a:endParaRPr lang="en-US" sz="2535" dirty="0"/>
          </a:p>
        </p:txBody>
      </p:sp>
      <p:sp>
        <p:nvSpPr>
          <p:cNvPr id="19" name="Shape 16"/>
          <p:cNvSpPr/>
          <p:nvPr/>
        </p:nvSpPr>
        <p:spPr>
          <a:xfrm>
            <a:off x="2926080" y="3257550"/>
            <a:ext cx="891540" cy="891540"/>
          </a:xfrm>
          <a:prstGeom prst="roundRect">
            <a:avLst>
              <a:gd name="adj" fmla="val 10256"/>
            </a:avLst>
          </a:prstGeom>
          <a:solidFill>
            <a:srgbClr val="F59E0B"/>
          </a:solidFill>
          <a:ln/>
        </p:spPr>
      </p:sp>
      <p:sp>
        <p:nvSpPr>
          <p:cNvPr id="20" name="Text 17"/>
          <p:cNvSpPr/>
          <p:nvPr/>
        </p:nvSpPr>
        <p:spPr>
          <a:xfrm>
            <a:off x="2926080" y="3257550"/>
            <a:ext cx="891540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35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M</a:t>
            </a:r>
            <a:endParaRPr lang="en-US" sz="2535" dirty="0"/>
          </a:p>
        </p:txBody>
      </p:sp>
      <p:sp>
        <p:nvSpPr>
          <p:cNvPr id="21" name="Shape 18"/>
          <p:cNvSpPr/>
          <p:nvPr/>
        </p:nvSpPr>
        <p:spPr>
          <a:xfrm>
            <a:off x="3909060" y="3257550"/>
            <a:ext cx="891540" cy="891540"/>
          </a:xfrm>
          <a:prstGeom prst="roundRect">
            <a:avLst>
              <a:gd name="adj" fmla="val 10256"/>
            </a:avLst>
          </a:prstGeom>
          <a:solidFill>
            <a:srgbClr val="115E59"/>
          </a:solidFill>
          <a:ln/>
        </p:spPr>
      </p:sp>
      <p:sp>
        <p:nvSpPr>
          <p:cNvPr id="22" name="Text 19"/>
          <p:cNvSpPr/>
          <p:nvPr/>
        </p:nvSpPr>
        <p:spPr>
          <a:xfrm>
            <a:off x="3909060" y="3257550"/>
            <a:ext cx="891540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35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E</a:t>
            </a:r>
            <a:endParaRPr lang="en-US" sz="2535" dirty="0"/>
          </a:p>
        </p:txBody>
      </p:sp>
      <p:sp>
        <p:nvSpPr>
          <p:cNvPr id="23" name="Shape 20"/>
          <p:cNvSpPr/>
          <p:nvPr/>
        </p:nvSpPr>
        <p:spPr>
          <a:xfrm>
            <a:off x="5486400" y="1417320"/>
            <a:ext cx="6172200" cy="4572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806440" y="1691640"/>
            <a:ext cx="5577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name</a:t>
            </a:r>
            <a:endParaRPr lang="en-US" sz="4600" dirty="0"/>
          </a:p>
        </p:txBody>
      </p:sp>
      <p:sp>
        <p:nvSpPr>
          <p:cNvPr id="25" name="Shape 22"/>
          <p:cNvSpPr/>
          <p:nvPr/>
        </p:nvSpPr>
        <p:spPr>
          <a:xfrm>
            <a:off x="5824728" y="2880360"/>
            <a:ext cx="155448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26" name="Text 23"/>
          <p:cNvSpPr/>
          <p:nvPr/>
        </p:nvSpPr>
        <p:spPr>
          <a:xfrm>
            <a:off x="5824728" y="288036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اسم</a:t>
            </a:r>
            <a:endParaRPr lang="en-US" sz="2000" dirty="0"/>
          </a:p>
        </p:txBody>
      </p:sp>
      <p:sp>
        <p:nvSpPr>
          <p:cNvPr id="27" name="Shape 24"/>
          <p:cNvSpPr/>
          <p:nvPr/>
        </p:nvSpPr>
        <p:spPr>
          <a:xfrm>
            <a:off x="5806440" y="3703320"/>
            <a:ext cx="5532120" cy="0"/>
          </a:xfrm>
          <a:prstGeom prst="line">
            <a:avLst/>
          </a:prstGeom>
          <a:noFill/>
          <a:ln w="19050">
            <a:solidFill>
              <a:srgbClr val="EEE2D0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806440" y="3886200"/>
            <a:ext cx="5577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b="1" spc="200" kern="0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SAY IT
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i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"My name is Lumi."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5824728" y="5212080"/>
            <a:ext cx="2468880" cy="365760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/>
        </p:spPr>
      </p:sp>
      <p:sp>
        <p:nvSpPr>
          <p:cNvPr id="30" name="Text 27"/>
          <p:cNvSpPr/>
          <p:nvPr/>
        </p:nvSpPr>
        <p:spPr>
          <a:xfrm>
            <a:off x="5824728" y="52120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Listen → Repeat ×3</a:t>
            </a:r>
            <a:endParaRPr lang="en-US" sz="1200" dirty="0"/>
          </a:p>
        </p:txBody>
      </p:sp>
      <p:pic>
        <p:nvPicPr>
          <p:cNvPr id="31" name="Image 1" descr="/home/claude/Lumio-English/assets/scenes/chars/omar-happ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82397" y="5212080"/>
            <a:ext cx="706487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Practice • name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7 / 26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965960" y="1417320"/>
            <a:ext cx="8229600" cy="420624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331720" y="16459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Can you say it?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2331720" y="251460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"My name is Lumi."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2350008" y="3611880"/>
            <a:ext cx="155448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11" name="Text 8"/>
          <p:cNvSpPr/>
          <p:nvPr/>
        </p:nvSpPr>
        <p:spPr>
          <a:xfrm>
            <a:off x="2350008" y="36118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اسم</a:t>
            </a:r>
            <a:endParaRPr lang="en-US" sz="1600" dirty="0"/>
          </a:p>
        </p:txBody>
      </p:sp>
      <p:pic>
        <p:nvPicPr>
          <p:cNvPr id="12" name="Image 1" descr="/home/claude/Lumio-English/assets/scenes/chars/omar-poi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3413097"/>
            <a:ext cx="2011680" cy="3170583"/>
          </a:xfrm>
          <a:prstGeom prst="rect">
            <a:avLst/>
          </a:prstGeom>
        </p:spPr>
      </p:pic>
      <p:pic>
        <p:nvPicPr>
          <p:cNvPr id="13" name="Image 2" descr="/home/claude/Lumio-English/assets/scenes/chars/noor-thumb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94276" y="2926080"/>
            <a:ext cx="20016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Vocabulary • I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8 / 26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96596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8" name="Shape 5"/>
          <p:cNvSpPr/>
          <p:nvPr/>
        </p:nvSpPr>
        <p:spPr>
          <a:xfrm>
            <a:off x="2240280" y="960120"/>
            <a:ext cx="182880" cy="18288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9" name="Shape 6"/>
          <p:cNvSpPr/>
          <p:nvPr/>
        </p:nvSpPr>
        <p:spPr>
          <a:xfrm>
            <a:off x="251460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0" name="Shape 7"/>
          <p:cNvSpPr/>
          <p:nvPr/>
        </p:nvSpPr>
        <p:spPr>
          <a:xfrm>
            <a:off x="278892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1" name="Shape 8"/>
          <p:cNvSpPr/>
          <p:nvPr/>
        </p:nvSpPr>
        <p:spPr>
          <a:xfrm>
            <a:off x="306324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2" name="Shape 9"/>
          <p:cNvSpPr/>
          <p:nvPr/>
        </p:nvSpPr>
        <p:spPr>
          <a:xfrm>
            <a:off x="333756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3" name="Shape 10"/>
          <p:cNvSpPr/>
          <p:nvPr/>
        </p:nvSpPr>
        <p:spPr>
          <a:xfrm>
            <a:off x="548640" y="1417320"/>
            <a:ext cx="4663440" cy="4572000"/>
          </a:xfrm>
          <a:prstGeom prst="roundRect">
            <a:avLst>
              <a:gd name="adj" fmla="val 3200"/>
            </a:avLst>
          </a:prstGeom>
          <a:solidFill>
            <a:srgbClr val="FFF8F0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85800" y="1554480"/>
            <a:ext cx="4389120" cy="4297680"/>
          </a:xfrm>
          <a:prstGeom prst="roundRect">
            <a:avLst>
              <a:gd name="adj" fmla="val 2553"/>
            </a:avLst>
          </a:prstGeom>
          <a:solidFill>
            <a:srgbClr val="FFF8F0"/>
          </a:solidFill>
          <a:ln/>
        </p:spPr>
      </p:sp>
      <p:sp>
        <p:nvSpPr>
          <p:cNvPr id="15" name="Shape 12"/>
          <p:cNvSpPr/>
          <p:nvPr/>
        </p:nvSpPr>
        <p:spPr>
          <a:xfrm>
            <a:off x="2103120" y="2926080"/>
            <a:ext cx="1554480" cy="1554480"/>
          </a:xfrm>
          <a:prstGeom prst="roundRect">
            <a:avLst>
              <a:gd name="adj" fmla="val 5882"/>
            </a:avLst>
          </a:prstGeom>
          <a:solidFill>
            <a:srgbClr val="F97316"/>
          </a:solidFill>
          <a:ln/>
        </p:spPr>
      </p:sp>
      <p:sp>
        <p:nvSpPr>
          <p:cNvPr id="16" name="Text 13"/>
          <p:cNvSpPr/>
          <p:nvPr/>
        </p:nvSpPr>
        <p:spPr>
          <a:xfrm>
            <a:off x="2103120" y="292608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I</a:t>
            </a:r>
            <a:endParaRPr lang="en-US" sz="3600" dirty="0"/>
          </a:p>
        </p:txBody>
      </p:sp>
      <p:sp>
        <p:nvSpPr>
          <p:cNvPr id="17" name="Shape 14"/>
          <p:cNvSpPr/>
          <p:nvPr/>
        </p:nvSpPr>
        <p:spPr>
          <a:xfrm>
            <a:off x="5486400" y="1417320"/>
            <a:ext cx="6172200" cy="4572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806440" y="1691640"/>
            <a:ext cx="5577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I</a:t>
            </a:r>
            <a:endParaRPr lang="en-US" sz="4600" dirty="0"/>
          </a:p>
        </p:txBody>
      </p:sp>
      <p:sp>
        <p:nvSpPr>
          <p:cNvPr id="19" name="Shape 16"/>
          <p:cNvSpPr/>
          <p:nvPr/>
        </p:nvSpPr>
        <p:spPr>
          <a:xfrm>
            <a:off x="5824728" y="2880360"/>
            <a:ext cx="155448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20" name="Text 17"/>
          <p:cNvSpPr/>
          <p:nvPr/>
        </p:nvSpPr>
        <p:spPr>
          <a:xfrm>
            <a:off x="5824728" y="288036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أنا</a:t>
            </a:r>
            <a:endParaRPr lang="en-US" sz="2000" dirty="0"/>
          </a:p>
        </p:txBody>
      </p:sp>
      <p:sp>
        <p:nvSpPr>
          <p:cNvPr id="21" name="Shape 18"/>
          <p:cNvSpPr/>
          <p:nvPr/>
        </p:nvSpPr>
        <p:spPr>
          <a:xfrm>
            <a:off x="5806440" y="3703320"/>
            <a:ext cx="5532120" cy="0"/>
          </a:xfrm>
          <a:prstGeom prst="line">
            <a:avLst/>
          </a:prstGeom>
          <a:noFill/>
          <a:ln w="19050">
            <a:solidFill>
              <a:srgbClr val="EEE2D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806440" y="3886200"/>
            <a:ext cx="5577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b="1" spc="200" kern="0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SAY IT
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i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"I am happy."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5824728" y="5212080"/>
            <a:ext cx="2468880" cy="365760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/>
        </p:spPr>
      </p:sp>
      <p:sp>
        <p:nvSpPr>
          <p:cNvPr id="24" name="Text 21"/>
          <p:cNvSpPr/>
          <p:nvPr/>
        </p:nvSpPr>
        <p:spPr>
          <a:xfrm>
            <a:off x="5824728" y="52120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Listen → Repeat ×3</a:t>
            </a:r>
            <a:endParaRPr lang="en-US" sz="1200" dirty="0"/>
          </a:p>
        </p:txBody>
      </p:sp>
      <p:pic>
        <p:nvPicPr>
          <p:cNvPr id="25" name="Image 1" descr="/home/claude/Lumio-English/assets/scenes/chars/noor-happ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90200" y="5212080"/>
            <a:ext cx="690880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Practice • I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9 / 26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965960" y="1417320"/>
            <a:ext cx="8229600" cy="420624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331720" y="16459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Can you say it?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2331720" y="251460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"I am happy."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2350008" y="3611880"/>
            <a:ext cx="155448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11" name="Text 8"/>
          <p:cNvSpPr/>
          <p:nvPr/>
        </p:nvSpPr>
        <p:spPr>
          <a:xfrm>
            <a:off x="2350008" y="36118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أنا</a:t>
            </a:r>
            <a:endParaRPr lang="en-US" sz="1600" dirty="0"/>
          </a:p>
        </p:txBody>
      </p:sp>
      <p:pic>
        <p:nvPicPr>
          <p:cNvPr id="12" name="Image 1" descr="/home/claude/Lumio-English/assets/scenes/chars/omar-poi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3413097"/>
            <a:ext cx="2011680" cy="3170583"/>
          </a:xfrm>
          <a:prstGeom prst="rect">
            <a:avLst/>
          </a:prstGeom>
        </p:spPr>
      </p:pic>
      <p:pic>
        <p:nvPicPr>
          <p:cNvPr id="13" name="Image 2" descr="/home/claude/Lumio-English/assets/scenes/chars/noor-thumb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94276" y="2926080"/>
            <a:ext cx="20016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Vocabulary • you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10 / 26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96596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8" name="Shape 5"/>
          <p:cNvSpPr/>
          <p:nvPr/>
        </p:nvSpPr>
        <p:spPr>
          <a:xfrm>
            <a:off x="224028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9" name="Shape 6"/>
          <p:cNvSpPr/>
          <p:nvPr/>
        </p:nvSpPr>
        <p:spPr>
          <a:xfrm>
            <a:off x="2514600" y="960120"/>
            <a:ext cx="182880" cy="18288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0" name="Shape 7"/>
          <p:cNvSpPr/>
          <p:nvPr/>
        </p:nvSpPr>
        <p:spPr>
          <a:xfrm>
            <a:off x="278892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1" name="Shape 8"/>
          <p:cNvSpPr/>
          <p:nvPr/>
        </p:nvSpPr>
        <p:spPr>
          <a:xfrm>
            <a:off x="306324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2" name="Shape 9"/>
          <p:cNvSpPr/>
          <p:nvPr/>
        </p:nvSpPr>
        <p:spPr>
          <a:xfrm>
            <a:off x="333756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3" name="Shape 10"/>
          <p:cNvSpPr/>
          <p:nvPr/>
        </p:nvSpPr>
        <p:spPr>
          <a:xfrm>
            <a:off x="548640" y="1417320"/>
            <a:ext cx="4663440" cy="4572000"/>
          </a:xfrm>
          <a:prstGeom prst="roundRect">
            <a:avLst>
              <a:gd name="adj" fmla="val 3200"/>
            </a:avLst>
          </a:prstGeom>
          <a:solidFill>
            <a:srgbClr val="FFF8F0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85800" y="1554480"/>
            <a:ext cx="4389120" cy="4297680"/>
          </a:xfrm>
          <a:prstGeom prst="roundRect">
            <a:avLst>
              <a:gd name="adj" fmla="val 2553"/>
            </a:avLst>
          </a:prstGeom>
          <a:solidFill>
            <a:srgbClr val="FFF8F0"/>
          </a:solidFill>
          <a:ln/>
        </p:spPr>
      </p:sp>
      <p:sp>
        <p:nvSpPr>
          <p:cNvPr id="15" name="Shape 12"/>
          <p:cNvSpPr/>
          <p:nvPr/>
        </p:nvSpPr>
        <p:spPr>
          <a:xfrm>
            <a:off x="960120" y="3093720"/>
            <a:ext cx="1219200" cy="1219200"/>
          </a:xfrm>
          <a:prstGeom prst="roundRect">
            <a:avLst>
              <a:gd name="adj" fmla="val 7500"/>
            </a:avLst>
          </a:prstGeom>
          <a:solidFill>
            <a:srgbClr val="F97316"/>
          </a:solidFill>
          <a:ln/>
        </p:spPr>
      </p:sp>
      <p:sp>
        <p:nvSpPr>
          <p:cNvPr id="16" name="Text 13"/>
          <p:cNvSpPr/>
          <p:nvPr/>
        </p:nvSpPr>
        <p:spPr>
          <a:xfrm>
            <a:off x="960120" y="3093720"/>
            <a:ext cx="12192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67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Y</a:t>
            </a:r>
            <a:endParaRPr lang="en-US" sz="3467" dirty="0"/>
          </a:p>
        </p:txBody>
      </p:sp>
      <p:sp>
        <p:nvSpPr>
          <p:cNvPr id="17" name="Shape 14"/>
          <p:cNvSpPr/>
          <p:nvPr/>
        </p:nvSpPr>
        <p:spPr>
          <a:xfrm>
            <a:off x="2270760" y="3093720"/>
            <a:ext cx="1219200" cy="1219200"/>
          </a:xfrm>
          <a:prstGeom prst="roundRect">
            <a:avLst>
              <a:gd name="adj" fmla="val 7500"/>
            </a:avLst>
          </a:prstGeom>
          <a:solidFill>
            <a:srgbClr val="0D9488"/>
          </a:solidFill>
          <a:ln/>
        </p:spPr>
      </p:sp>
      <p:sp>
        <p:nvSpPr>
          <p:cNvPr id="18" name="Text 15"/>
          <p:cNvSpPr/>
          <p:nvPr/>
        </p:nvSpPr>
        <p:spPr>
          <a:xfrm>
            <a:off x="2270760" y="3093720"/>
            <a:ext cx="12192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67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O</a:t>
            </a:r>
            <a:endParaRPr lang="en-US" sz="3467" dirty="0"/>
          </a:p>
        </p:txBody>
      </p:sp>
      <p:sp>
        <p:nvSpPr>
          <p:cNvPr id="19" name="Shape 16"/>
          <p:cNvSpPr/>
          <p:nvPr/>
        </p:nvSpPr>
        <p:spPr>
          <a:xfrm>
            <a:off x="3581400" y="3093720"/>
            <a:ext cx="1219200" cy="1219200"/>
          </a:xfrm>
          <a:prstGeom prst="roundRect">
            <a:avLst>
              <a:gd name="adj" fmla="val 7500"/>
            </a:avLst>
          </a:prstGeom>
          <a:solidFill>
            <a:srgbClr val="F59E0B"/>
          </a:solidFill>
          <a:ln/>
        </p:spPr>
      </p:sp>
      <p:sp>
        <p:nvSpPr>
          <p:cNvPr id="20" name="Text 17"/>
          <p:cNvSpPr/>
          <p:nvPr/>
        </p:nvSpPr>
        <p:spPr>
          <a:xfrm>
            <a:off x="3581400" y="3093720"/>
            <a:ext cx="12192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67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U</a:t>
            </a:r>
            <a:endParaRPr lang="en-US" sz="3467" dirty="0"/>
          </a:p>
        </p:txBody>
      </p:sp>
      <p:sp>
        <p:nvSpPr>
          <p:cNvPr id="21" name="Shape 18"/>
          <p:cNvSpPr/>
          <p:nvPr/>
        </p:nvSpPr>
        <p:spPr>
          <a:xfrm>
            <a:off x="5486400" y="1417320"/>
            <a:ext cx="6172200" cy="4572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806440" y="1691640"/>
            <a:ext cx="5577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you</a:t>
            </a:r>
            <a:endParaRPr lang="en-US" sz="4600" dirty="0"/>
          </a:p>
        </p:txBody>
      </p:sp>
      <p:sp>
        <p:nvSpPr>
          <p:cNvPr id="23" name="Shape 20"/>
          <p:cNvSpPr/>
          <p:nvPr/>
        </p:nvSpPr>
        <p:spPr>
          <a:xfrm>
            <a:off x="5824728" y="2880360"/>
            <a:ext cx="301752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24" name="Text 21"/>
          <p:cNvSpPr/>
          <p:nvPr/>
        </p:nvSpPr>
        <p:spPr>
          <a:xfrm>
            <a:off x="5824728" y="28803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أنتَ / أنتِ</a:t>
            </a:r>
            <a:endParaRPr lang="en-US" sz="2000" dirty="0"/>
          </a:p>
        </p:txBody>
      </p:sp>
      <p:sp>
        <p:nvSpPr>
          <p:cNvPr id="25" name="Shape 22"/>
          <p:cNvSpPr/>
          <p:nvPr/>
        </p:nvSpPr>
        <p:spPr>
          <a:xfrm>
            <a:off x="5806440" y="3703320"/>
            <a:ext cx="5532120" cy="0"/>
          </a:xfrm>
          <a:prstGeom prst="line">
            <a:avLst/>
          </a:prstGeom>
          <a:noFill/>
          <a:ln w="19050">
            <a:solidFill>
              <a:srgbClr val="EEE2D0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806440" y="3886200"/>
            <a:ext cx="5577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b="1" spc="200" kern="0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SAY IT
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i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"You are my friend."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5824728" y="5212080"/>
            <a:ext cx="2468880" cy="365760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/>
        </p:spPr>
      </p:sp>
      <p:sp>
        <p:nvSpPr>
          <p:cNvPr id="28" name="Text 25"/>
          <p:cNvSpPr/>
          <p:nvPr/>
        </p:nvSpPr>
        <p:spPr>
          <a:xfrm>
            <a:off x="5824728" y="52120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Listen → Repeat ×3</a:t>
            </a:r>
            <a:endParaRPr lang="en-US" sz="1200" dirty="0"/>
          </a:p>
        </p:txBody>
      </p:sp>
      <p:pic>
        <p:nvPicPr>
          <p:cNvPr id="29" name="Image 1" descr="/home/claude/Lumio-English/assets/scenes/chars/sara-explai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30118" y="5212080"/>
            <a:ext cx="1011044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Practice • you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11 / 26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965960" y="1417320"/>
            <a:ext cx="8229600" cy="420624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331720" y="16459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Can you say it?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2331720" y="251460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"You are my friend."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2350008" y="3611880"/>
            <a:ext cx="301752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11" name="Text 8"/>
          <p:cNvSpPr/>
          <p:nvPr/>
        </p:nvSpPr>
        <p:spPr>
          <a:xfrm>
            <a:off x="2350008" y="36118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أنتَ / أنتِ</a:t>
            </a:r>
            <a:endParaRPr lang="en-US" sz="1600" dirty="0"/>
          </a:p>
        </p:txBody>
      </p:sp>
      <p:pic>
        <p:nvPicPr>
          <p:cNvPr id="12" name="Image 1" descr="/home/claude/Lumio-English/assets/scenes/chars/omar-poi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3413097"/>
            <a:ext cx="2011680" cy="3170583"/>
          </a:xfrm>
          <a:prstGeom prst="rect">
            <a:avLst/>
          </a:prstGeom>
        </p:spPr>
      </p:pic>
      <p:pic>
        <p:nvPicPr>
          <p:cNvPr id="13" name="Image 2" descr="/home/claude/Lumio-English/assets/scenes/chars/noor-thumb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94276" y="2926080"/>
            <a:ext cx="20016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Vocabulary • boy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12 / 26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96596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8" name="Shape 5"/>
          <p:cNvSpPr/>
          <p:nvPr/>
        </p:nvSpPr>
        <p:spPr>
          <a:xfrm>
            <a:off x="224028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9" name="Shape 6"/>
          <p:cNvSpPr/>
          <p:nvPr/>
        </p:nvSpPr>
        <p:spPr>
          <a:xfrm>
            <a:off x="251460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0" name="Shape 7"/>
          <p:cNvSpPr/>
          <p:nvPr/>
        </p:nvSpPr>
        <p:spPr>
          <a:xfrm>
            <a:off x="2788920" y="960120"/>
            <a:ext cx="182880" cy="18288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1" name="Shape 8"/>
          <p:cNvSpPr/>
          <p:nvPr/>
        </p:nvSpPr>
        <p:spPr>
          <a:xfrm>
            <a:off x="306324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2" name="Shape 9"/>
          <p:cNvSpPr/>
          <p:nvPr/>
        </p:nvSpPr>
        <p:spPr>
          <a:xfrm>
            <a:off x="333756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3" name="Shape 10"/>
          <p:cNvSpPr/>
          <p:nvPr/>
        </p:nvSpPr>
        <p:spPr>
          <a:xfrm>
            <a:off x="548640" y="1417320"/>
            <a:ext cx="4663440" cy="4572000"/>
          </a:xfrm>
          <a:prstGeom prst="roundRect">
            <a:avLst>
              <a:gd name="adj" fmla="val 3200"/>
            </a:avLst>
          </a:prstGeom>
          <a:solidFill>
            <a:srgbClr val="FFF8F0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85800" y="1554480"/>
            <a:ext cx="4389120" cy="4297680"/>
          </a:xfrm>
          <a:prstGeom prst="roundRect">
            <a:avLst>
              <a:gd name="adj" fmla="val 2553"/>
            </a:avLst>
          </a:prstGeom>
          <a:solidFill>
            <a:srgbClr val="FFF8F0"/>
          </a:solidFill>
          <a:ln/>
        </p:spPr>
      </p:sp>
      <p:sp>
        <p:nvSpPr>
          <p:cNvPr id="15" name="Shape 12"/>
          <p:cNvSpPr/>
          <p:nvPr/>
        </p:nvSpPr>
        <p:spPr>
          <a:xfrm>
            <a:off x="960120" y="3093720"/>
            <a:ext cx="1219200" cy="1219200"/>
          </a:xfrm>
          <a:prstGeom prst="roundRect">
            <a:avLst>
              <a:gd name="adj" fmla="val 7500"/>
            </a:avLst>
          </a:prstGeom>
          <a:solidFill>
            <a:srgbClr val="F97316"/>
          </a:solidFill>
          <a:ln/>
        </p:spPr>
      </p:sp>
      <p:sp>
        <p:nvSpPr>
          <p:cNvPr id="16" name="Text 13"/>
          <p:cNvSpPr/>
          <p:nvPr/>
        </p:nvSpPr>
        <p:spPr>
          <a:xfrm>
            <a:off x="960120" y="3093720"/>
            <a:ext cx="12192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67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B</a:t>
            </a:r>
            <a:endParaRPr lang="en-US" sz="3467" dirty="0"/>
          </a:p>
        </p:txBody>
      </p:sp>
      <p:sp>
        <p:nvSpPr>
          <p:cNvPr id="17" name="Shape 14"/>
          <p:cNvSpPr/>
          <p:nvPr/>
        </p:nvSpPr>
        <p:spPr>
          <a:xfrm>
            <a:off x="2270760" y="3093720"/>
            <a:ext cx="1219200" cy="1219200"/>
          </a:xfrm>
          <a:prstGeom prst="roundRect">
            <a:avLst>
              <a:gd name="adj" fmla="val 7500"/>
            </a:avLst>
          </a:prstGeom>
          <a:solidFill>
            <a:srgbClr val="0D9488"/>
          </a:solidFill>
          <a:ln/>
        </p:spPr>
      </p:sp>
      <p:sp>
        <p:nvSpPr>
          <p:cNvPr id="18" name="Text 15"/>
          <p:cNvSpPr/>
          <p:nvPr/>
        </p:nvSpPr>
        <p:spPr>
          <a:xfrm>
            <a:off x="2270760" y="3093720"/>
            <a:ext cx="12192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67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O</a:t>
            </a:r>
            <a:endParaRPr lang="en-US" sz="3467" dirty="0"/>
          </a:p>
        </p:txBody>
      </p:sp>
      <p:sp>
        <p:nvSpPr>
          <p:cNvPr id="19" name="Shape 16"/>
          <p:cNvSpPr/>
          <p:nvPr/>
        </p:nvSpPr>
        <p:spPr>
          <a:xfrm>
            <a:off x="3581400" y="3093720"/>
            <a:ext cx="1219200" cy="1219200"/>
          </a:xfrm>
          <a:prstGeom prst="roundRect">
            <a:avLst>
              <a:gd name="adj" fmla="val 7500"/>
            </a:avLst>
          </a:prstGeom>
          <a:solidFill>
            <a:srgbClr val="F59E0B"/>
          </a:solidFill>
          <a:ln/>
        </p:spPr>
      </p:sp>
      <p:sp>
        <p:nvSpPr>
          <p:cNvPr id="20" name="Text 17"/>
          <p:cNvSpPr/>
          <p:nvPr/>
        </p:nvSpPr>
        <p:spPr>
          <a:xfrm>
            <a:off x="3581400" y="3093720"/>
            <a:ext cx="12192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67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Y</a:t>
            </a:r>
            <a:endParaRPr lang="en-US" sz="3467" dirty="0"/>
          </a:p>
        </p:txBody>
      </p:sp>
      <p:sp>
        <p:nvSpPr>
          <p:cNvPr id="21" name="Shape 18"/>
          <p:cNvSpPr/>
          <p:nvPr/>
        </p:nvSpPr>
        <p:spPr>
          <a:xfrm>
            <a:off x="5486400" y="1417320"/>
            <a:ext cx="6172200" cy="4572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806440" y="1691640"/>
            <a:ext cx="5577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boy</a:t>
            </a:r>
            <a:endParaRPr lang="en-US" sz="4600" dirty="0"/>
          </a:p>
        </p:txBody>
      </p:sp>
      <p:sp>
        <p:nvSpPr>
          <p:cNvPr id="23" name="Shape 20"/>
          <p:cNvSpPr/>
          <p:nvPr/>
        </p:nvSpPr>
        <p:spPr>
          <a:xfrm>
            <a:off x="5824728" y="2880360"/>
            <a:ext cx="155448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24" name="Text 21"/>
          <p:cNvSpPr/>
          <p:nvPr/>
        </p:nvSpPr>
        <p:spPr>
          <a:xfrm>
            <a:off x="5824728" y="288036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ولد</a:t>
            </a:r>
            <a:endParaRPr lang="en-US" sz="2000" dirty="0"/>
          </a:p>
        </p:txBody>
      </p:sp>
      <p:sp>
        <p:nvSpPr>
          <p:cNvPr id="25" name="Shape 22"/>
          <p:cNvSpPr/>
          <p:nvPr/>
        </p:nvSpPr>
        <p:spPr>
          <a:xfrm>
            <a:off x="5806440" y="3703320"/>
            <a:ext cx="5532120" cy="0"/>
          </a:xfrm>
          <a:prstGeom prst="line">
            <a:avLst/>
          </a:prstGeom>
          <a:noFill/>
          <a:ln w="19050">
            <a:solidFill>
              <a:srgbClr val="EEE2D0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806440" y="3886200"/>
            <a:ext cx="5577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b="1" spc="200" kern="0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SAY IT
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i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"Omar is a boy."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5824728" y="5212080"/>
            <a:ext cx="2468880" cy="365760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/>
        </p:spPr>
      </p:sp>
      <p:sp>
        <p:nvSpPr>
          <p:cNvPr id="28" name="Text 25"/>
          <p:cNvSpPr/>
          <p:nvPr/>
        </p:nvSpPr>
        <p:spPr>
          <a:xfrm>
            <a:off x="5824728" y="52120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Listen → Repeat ×3</a:t>
            </a:r>
            <a:endParaRPr lang="en-US" sz="1200" dirty="0"/>
          </a:p>
        </p:txBody>
      </p:sp>
      <p:pic>
        <p:nvPicPr>
          <p:cNvPr id="29" name="Image 1" descr="/home/claude/Lumio-English/assets/scenes/chars/omar-happ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82397" y="5212080"/>
            <a:ext cx="706487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Practice • boy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13 / 26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965960" y="1417320"/>
            <a:ext cx="8229600" cy="420624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331720" y="16459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Can you say it?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2331720" y="251460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"Omar is a boy."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2350008" y="3611880"/>
            <a:ext cx="155448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11" name="Text 8"/>
          <p:cNvSpPr/>
          <p:nvPr/>
        </p:nvSpPr>
        <p:spPr>
          <a:xfrm>
            <a:off x="2350008" y="36118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ولد</a:t>
            </a:r>
            <a:endParaRPr lang="en-US" sz="1600" dirty="0"/>
          </a:p>
        </p:txBody>
      </p:sp>
      <p:pic>
        <p:nvPicPr>
          <p:cNvPr id="12" name="Image 1" descr="/home/claude/Lumio-English/assets/scenes/chars/omar-poi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3413097"/>
            <a:ext cx="2011680" cy="3170583"/>
          </a:xfrm>
          <a:prstGeom prst="rect">
            <a:avLst/>
          </a:prstGeom>
        </p:spPr>
      </p:pic>
      <p:pic>
        <p:nvPicPr>
          <p:cNvPr id="13" name="Image 2" descr="/home/claude/Lumio-English/assets/scenes/chars/noor-thumb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94276" y="2926080"/>
            <a:ext cx="20016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Vocabulary • girl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14 / 26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96596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8" name="Shape 5"/>
          <p:cNvSpPr/>
          <p:nvPr/>
        </p:nvSpPr>
        <p:spPr>
          <a:xfrm>
            <a:off x="224028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9" name="Shape 6"/>
          <p:cNvSpPr/>
          <p:nvPr/>
        </p:nvSpPr>
        <p:spPr>
          <a:xfrm>
            <a:off x="251460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0" name="Shape 7"/>
          <p:cNvSpPr/>
          <p:nvPr/>
        </p:nvSpPr>
        <p:spPr>
          <a:xfrm>
            <a:off x="278892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1" name="Shape 8"/>
          <p:cNvSpPr/>
          <p:nvPr/>
        </p:nvSpPr>
        <p:spPr>
          <a:xfrm>
            <a:off x="3063240" y="960120"/>
            <a:ext cx="182880" cy="18288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2" name="Shape 9"/>
          <p:cNvSpPr/>
          <p:nvPr/>
        </p:nvSpPr>
        <p:spPr>
          <a:xfrm>
            <a:off x="333756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3" name="Shape 10"/>
          <p:cNvSpPr/>
          <p:nvPr/>
        </p:nvSpPr>
        <p:spPr>
          <a:xfrm>
            <a:off x="548640" y="1417320"/>
            <a:ext cx="4663440" cy="4572000"/>
          </a:xfrm>
          <a:prstGeom prst="roundRect">
            <a:avLst>
              <a:gd name="adj" fmla="val 3200"/>
            </a:avLst>
          </a:prstGeom>
          <a:solidFill>
            <a:srgbClr val="FFF8F0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85800" y="1554480"/>
            <a:ext cx="4389120" cy="4297680"/>
          </a:xfrm>
          <a:prstGeom prst="roundRect">
            <a:avLst>
              <a:gd name="adj" fmla="val 2553"/>
            </a:avLst>
          </a:prstGeom>
          <a:solidFill>
            <a:srgbClr val="FFF8F0"/>
          </a:solidFill>
          <a:ln/>
        </p:spPr>
      </p:sp>
      <p:sp>
        <p:nvSpPr>
          <p:cNvPr id="15" name="Shape 12"/>
          <p:cNvSpPr/>
          <p:nvPr/>
        </p:nvSpPr>
        <p:spPr>
          <a:xfrm>
            <a:off x="960120" y="3257550"/>
            <a:ext cx="891540" cy="891540"/>
          </a:xfrm>
          <a:prstGeom prst="roundRect">
            <a:avLst>
              <a:gd name="adj" fmla="val 10256"/>
            </a:avLst>
          </a:prstGeom>
          <a:solidFill>
            <a:srgbClr val="F97316"/>
          </a:solidFill>
          <a:ln/>
        </p:spPr>
      </p:sp>
      <p:sp>
        <p:nvSpPr>
          <p:cNvPr id="16" name="Text 13"/>
          <p:cNvSpPr/>
          <p:nvPr/>
        </p:nvSpPr>
        <p:spPr>
          <a:xfrm>
            <a:off x="960120" y="3257550"/>
            <a:ext cx="891540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35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G</a:t>
            </a:r>
            <a:endParaRPr lang="en-US" sz="2535" dirty="0"/>
          </a:p>
        </p:txBody>
      </p:sp>
      <p:sp>
        <p:nvSpPr>
          <p:cNvPr id="17" name="Shape 14"/>
          <p:cNvSpPr/>
          <p:nvPr/>
        </p:nvSpPr>
        <p:spPr>
          <a:xfrm>
            <a:off x="1943100" y="3257550"/>
            <a:ext cx="891540" cy="891540"/>
          </a:xfrm>
          <a:prstGeom prst="roundRect">
            <a:avLst>
              <a:gd name="adj" fmla="val 10256"/>
            </a:avLst>
          </a:prstGeom>
          <a:solidFill>
            <a:srgbClr val="0D9488"/>
          </a:solidFill>
          <a:ln/>
        </p:spPr>
      </p:sp>
      <p:sp>
        <p:nvSpPr>
          <p:cNvPr id="18" name="Text 15"/>
          <p:cNvSpPr/>
          <p:nvPr/>
        </p:nvSpPr>
        <p:spPr>
          <a:xfrm>
            <a:off x="1943100" y="3257550"/>
            <a:ext cx="891540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35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I</a:t>
            </a:r>
            <a:endParaRPr lang="en-US" sz="2535" dirty="0"/>
          </a:p>
        </p:txBody>
      </p:sp>
      <p:sp>
        <p:nvSpPr>
          <p:cNvPr id="19" name="Shape 16"/>
          <p:cNvSpPr/>
          <p:nvPr/>
        </p:nvSpPr>
        <p:spPr>
          <a:xfrm>
            <a:off x="2926080" y="3257550"/>
            <a:ext cx="891540" cy="891540"/>
          </a:xfrm>
          <a:prstGeom prst="roundRect">
            <a:avLst>
              <a:gd name="adj" fmla="val 10256"/>
            </a:avLst>
          </a:prstGeom>
          <a:solidFill>
            <a:srgbClr val="F59E0B"/>
          </a:solidFill>
          <a:ln/>
        </p:spPr>
      </p:sp>
      <p:sp>
        <p:nvSpPr>
          <p:cNvPr id="20" name="Text 17"/>
          <p:cNvSpPr/>
          <p:nvPr/>
        </p:nvSpPr>
        <p:spPr>
          <a:xfrm>
            <a:off x="2926080" y="3257550"/>
            <a:ext cx="891540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35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R</a:t>
            </a:r>
            <a:endParaRPr lang="en-US" sz="2535" dirty="0"/>
          </a:p>
        </p:txBody>
      </p:sp>
      <p:sp>
        <p:nvSpPr>
          <p:cNvPr id="21" name="Shape 18"/>
          <p:cNvSpPr/>
          <p:nvPr/>
        </p:nvSpPr>
        <p:spPr>
          <a:xfrm>
            <a:off x="3909060" y="3257550"/>
            <a:ext cx="891540" cy="891540"/>
          </a:xfrm>
          <a:prstGeom prst="roundRect">
            <a:avLst>
              <a:gd name="adj" fmla="val 10256"/>
            </a:avLst>
          </a:prstGeom>
          <a:solidFill>
            <a:srgbClr val="115E59"/>
          </a:solidFill>
          <a:ln/>
        </p:spPr>
      </p:sp>
      <p:sp>
        <p:nvSpPr>
          <p:cNvPr id="22" name="Text 19"/>
          <p:cNvSpPr/>
          <p:nvPr/>
        </p:nvSpPr>
        <p:spPr>
          <a:xfrm>
            <a:off x="3909060" y="3257550"/>
            <a:ext cx="891540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35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</a:t>
            </a:r>
            <a:endParaRPr lang="en-US" sz="2535" dirty="0"/>
          </a:p>
        </p:txBody>
      </p:sp>
      <p:sp>
        <p:nvSpPr>
          <p:cNvPr id="23" name="Shape 20"/>
          <p:cNvSpPr/>
          <p:nvPr/>
        </p:nvSpPr>
        <p:spPr>
          <a:xfrm>
            <a:off x="5486400" y="1417320"/>
            <a:ext cx="6172200" cy="4572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806440" y="1691640"/>
            <a:ext cx="5577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girl</a:t>
            </a:r>
            <a:endParaRPr lang="en-US" sz="4600" dirty="0"/>
          </a:p>
        </p:txBody>
      </p:sp>
      <p:sp>
        <p:nvSpPr>
          <p:cNvPr id="25" name="Shape 22"/>
          <p:cNvSpPr/>
          <p:nvPr/>
        </p:nvSpPr>
        <p:spPr>
          <a:xfrm>
            <a:off x="5824728" y="2880360"/>
            <a:ext cx="155448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26" name="Text 23"/>
          <p:cNvSpPr/>
          <p:nvPr/>
        </p:nvSpPr>
        <p:spPr>
          <a:xfrm>
            <a:off x="5824728" y="288036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بنت</a:t>
            </a:r>
            <a:endParaRPr lang="en-US" sz="2000" dirty="0"/>
          </a:p>
        </p:txBody>
      </p:sp>
      <p:sp>
        <p:nvSpPr>
          <p:cNvPr id="27" name="Shape 24"/>
          <p:cNvSpPr/>
          <p:nvPr/>
        </p:nvSpPr>
        <p:spPr>
          <a:xfrm>
            <a:off x="5806440" y="3703320"/>
            <a:ext cx="5532120" cy="0"/>
          </a:xfrm>
          <a:prstGeom prst="line">
            <a:avLst/>
          </a:prstGeom>
          <a:noFill/>
          <a:ln w="19050">
            <a:solidFill>
              <a:srgbClr val="EEE2D0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806440" y="3886200"/>
            <a:ext cx="5577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b="1" spc="200" kern="0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SAY IT
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i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"Noor is a girl."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5824728" y="5212080"/>
            <a:ext cx="2468880" cy="365760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/>
        </p:spPr>
      </p:sp>
      <p:sp>
        <p:nvSpPr>
          <p:cNvPr id="30" name="Text 27"/>
          <p:cNvSpPr/>
          <p:nvPr/>
        </p:nvSpPr>
        <p:spPr>
          <a:xfrm>
            <a:off x="5824728" y="52120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Listen → Repeat ×3</a:t>
            </a:r>
            <a:endParaRPr lang="en-US" sz="1200" dirty="0"/>
          </a:p>
        </p:txBody>
      </p:sp>
      <p:pic>
        <p:nvPicPr>
          <p:cNvPr id="31" name="Image 1" descr="/home/claude/Lumio-English/assets/scenes/chars/noor-happ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90200" y="5212080"/>
            <a:ext cx="690880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Practice • girl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15 / 26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965960" y="1417320"/>
            <a:ext cx="8229600" cy="420624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331720" y="16459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Can you say it?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2331720" y="251460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"Noor is a girl."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2350008" y="3611880"/>
            <a:ext cx="155448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11" name="Text 8"/>
          <p:cNvSpPr/>
          <p:nvPr/>
        </p:nvSpPr>
        <p:spPr>
          <a:xfrm>
            <a:off x="2350008" y="36118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بنت</a:t>
            </a:r>
            <a:endParaRPr lang="en-US" sz="1600" dirty="0"/>
          </a:p>
        </p:txBody>
      </p:sp>
      <p:pic>
        <p:nvPicPr>
          <p:cNvPr id="12" name="Image 1" descr="/home/claude/Lumio-English/assets/scenes/chars/omar-poi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3413097"/>
            <a:ext cx="2011680" cy="3170583"/>
          </a:xfrm>
          <a:prstGeom prst="rect">
            <a:avLst/>
          </a:prstGeom>
        </p:spPr>
      </p:pic>
      <p:pic>
        <p:nvPicPr>
          <p:cNvPr id="13" name="Image 2" descr="/home/claude/Lumio-English/assets/scenes/chars/noor-thumb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94276" y="2926080"/>
            <a:ext cx="20016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Vocabulary • friend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16 / 26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96596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8" name="Shape 5"/>
          <p:cNvSpPr/>
          <p:nvPr/>
        </p:nvSpPr>
        <p:spPr>
          <a:xfrm>
            <a:off x="224028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9" name="Shape 6"/>
          <p:cNvSpPr/>
          <p:nvPr/>
        </p:nvSpPr>
        <p:spPr>
          <a:xfrm>
            <a:off x="251460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0" name="Shape 7"/>
          <p:cNvSpPr/>
          <p:nvPr/>
        </p:nvSpPr>
        <p:spPr>
          <a:xfrm>
            <a:off x="278892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1" name="Shape 8"/>
          <p:cNvSpPr/>
          <p:nvPr/>
        </p:nvSpPr>
        <p:spPr>
          <a:xfrm>
            <a:off x="306324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2" name="Shape 9"/>
          <p:cNvSpPr/>
          <p:nvPr/>
        </p:nvSpPr>
        <p:spPr>
          <a:xfrm>
            <a:off x="3337560" y="960120"/>
            <a:ext cx="182880" cy="18288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3" name="Shape 10"/>
          <p:cNvSpPr/>
          <p:nvPr/>
        </p:nvSpPr>
        <p:spPr>
          <a:xfrm>
            <a:off x="548640" y="1417320"/>
            <a:ext cx="4663440" cy="4572000"/>
          </a:xfrm>
          <a:prstGeom prst="roundRect">
            <a:avLst>
              <a:gd name="adj" fmla="val 3200"/>
            </a:avLst>
          </a:prstGeom>
          <a:solidFill>
            <a:srgbClr val="FFF8F0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85800" y="1554480"/>
            <a:ext cx="4389120" cy="4297680"/>
          </a:xfrm>
          <a:prstGeom prst="roundRect">
            <a:avLst>
              <a:gd name="adj" fmla="val 2553"/>
            </a:avLst>
          </a:prstGeom>
          <a:solidFill>
            <a:srgbClr val="FFF8F0"/>
          </a:solidFill>
          <a:ln/>
        </p:spPr>
      </p:sp>
      <p:sp>
        <p:nvSpPr>
          <p:cNvPr id="15" name="Shape 12"/>
          <p:cNvSpPr/>
          <p:nvPr/>
        </p:nvSpPr>
        <p:spPr>
          <a:xfrm>
            <a:off x="960120" y="2438400"/>
            <a:ext cx="1219200" cy="1219200"/>
          </a:xfrm>
          <a:prstGeom prst="roundRect">
            <a:avLst>
              <a:gd name="adj" fmla="val 7500"/>
            </a:avLst>
          </a:prstGeom>
          <a:solidFill>
            <a:srgbClr val="F97316"/>
          </a:solidFill>
          <a:ln/>
        </p:spPr>
      </p:sp>
      <p:sp>
        <p:nvSpPr>
          <p:cNvPr id="16" name="Text 13"/>
          <p:cNvSpPr/>
          <p:nvPr/>
        </p:nvSpPr>
        <p:spPr>
          <a:xfrm>
            <a:off x="960120" y="2438400"/>
            <a:ext cx="12192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67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F</a:t>
            </a:r>
            <a:endParaRPr lang="en-US" sz="3467" dirty="0"/>
          </a:p>
        </p:txBody>
      </p:sp>
      <p:sp>
        <p:nvSpPr>
          <p:cNvPr id="17" name="Shape 14"/>
          <p:cNvSpPr/>
          <p:nvPr/>
        </p:nvSpPr>
        <p:spPr>
          <a:xfrm>
            <a:off x="2270760" y="2438400"/>
            <a:ext cx="1219200" cy="1219200"/>
          </a:xfrm>
          <a:prstGeom prst="roundRect">
            <a:avLst>
              <a:gd name="adj" fmla="val 7500"/>
            </a:avLst>
          </a:prstGeom>
          <a:solidFill>
            <a:srgbClr val="0D9488"/>
          </a:solidFill>
          <a:ln/>
        </p:spPr>
      </p:sp>
      <p:sp>
        <p:nvSpPr>
          <p:cNvPr id="18" name="Text 15"/>
          <p:cNvSpPr/>
          <p:nvPr/>
        </p:nvSpPr>
        <p:spPr>
          <a:xfrm>
            <a:off x="2270760" y="2438400"/>
            <a:ext cx="12192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67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R</a:t>
            </a:r>
            <a:endParaRPr lang="en-US" sz="3467" dirty="0"/>
          </a:p>
        </p:txBody>
      </p:sp>
      <p:sp>
        <p:nvSpPr>
          <p:cNvPr id="19" name="Shape 16"/>
          <p:cNvSpPr/>
          <p:nvPr/>
        </p:nvSpPr>
        <p:spPr>
          <a:xfrm>
            <a:off x="3581400" y="2438400"/>
            <a:ext cx="1219200" cy="1219200"/>
          </a:xfrm>
          <a:prstGeom prst="roundRect">
            <a:avLst>
              <a:gd name="adj" fmla="val 7500"/>
            </a:avLst>
          </a:prstGeom>
          <a:solidFill>
            <a:srgbClr val="F59E0B"/>
          </a:solidFill>
          <a:ln/>
        </p:spPr>
      </p:sp>
      <p:sp>
        <p:nvSpPr>
          <p:cNvPr id="20" name="Text 17"/>
          <p:cNvSpPr/>
          <p:nvPr/>
        </p:nvSpPr>
        <p:spPr>
          <a:xfrm>
            <a:off x="3581400" y="2438400"/>
            <a:ext cx="12192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67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I</a:t>
            </a:r>
            <a:endParaRPr lang="en-US" sz="3467" dirty="0"/>
          </a:p>
        </p:txBody>
      </p:sp>
      <p:sp>
        <p:nvSpPr>
          <p:cNvPr id="21" name="Shape 18"/>
          <p:cNvSpPr/>
          <p:nvPr/>
        </p:nvSpPr>
        <p:spPr>
          <a:xfrm>
            <a:off x="960120" y="3749040"/>
            <a:ext cx="1219200" cy="1219200"/>
          </a:xfrm>
          <a:prstGeom prst="roundRect">
            <a:avLst>
              <a:gd name="adj" fmla="val 7500"/>
            </a:avLst>
          </a:prstGeom>
          <a:solidFill>
            <a:srgbClr val="115E59"/>
          </a:solidFill>
          <a:ln/>
        </p:spPr>
      </p:sp>
      <p:sp>
        <p:nvSpPr>
          <p:cNvPr id="22" name="Text 19"/>
          <p:cNvSpPr/>
          <p:nvPr/>
        </p:nvSpPr>
        <p:spPr>
          <a:xfrm>
            <a:off x="960120" y="3749040"/>
            <a:ext cx="12192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67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E</a:t>
            </a:r>
            <a:endParaRPr lang="en-US" sz="3467" dirty="0"/>
          </a:p>
        </p:txBody>
      </p:sp>
      <p:sp>
        <p:nvSpPr>
          <p:cNvPr id="23" name="Shape 20"/>
          <p:cNvSpPr/>
          <p:nvPr/>
        </p:nvSpPr>
        <p:spPr>
          <a:xfrm>
            <a:off x="2270760" y="3749040"/>
            <a:ext cx="1219200" cy="1219200"/>
          </a:xfrm>
          <a:prstGeom prst="roundRect">
            <a:avLst>
              <a:gd name="adj" fmla="val 7500"/>
            </a:avLst>
          </a:prstGeom>
          <a:solidFill>
            <a:srgbClr val="C2410C"/>
          </a:solidFill>
          <a:ln/>
        </p:spPr>
      </p:sp>
      <p:sp>
        <p:nvSpPr>
          <p:cNvPr id="24" name="Text 21"/>
          <p:cNvSpPr/>
          <p:nvPr/>
        </p:nvSpPr>
        <p:spPr>
          <a:xfrm>
            <a:off x="2270760" y="3749040"/>
            <a:ext cx="12192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67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N</a:t>
            </a:r>
            <a:endParaRPr lang="en-US" sz="3467" dirty="0"/>
          </a:p>
        </p:txBody>
      </p:sp>
      <p:sp>
        <p:nvSpPr>
          <p:cNvPr id="25" name="Shape 22"/>
          <p:cNvSpPr/>
          <p:nvPr/>
        </p:nvSpPr>
        <p:spPr>
          <a:xfrm>
            <a:off x="3581400" y="3749040"/>
            <a:ext cx="1219200" cy="1219200"/>
          </a:xfrm>
          <a:prstGeom prst="roundRect">
            <a:avLst>
              <a:gd name="adj" fmla="val 7500"/>
            </a:avLst>
          </a:prstGeom>
          <a:solidFill>
            <a:srgbClr val="F97316"/>
          </a:solidFill>
          <a:ln/>
        </p:spPr>
      </p:sp>
      <p:sp>
        <p:nvSpPr>
          <p:cNvPr id="26" name="Text 23"/>
          <p:cNvSpPr/>
          <p:nvPr/>
        </p:nvSpPr>
        <p:spPr>
          <a:xfrm>
            <a:off x="3581400" y="3749040"/>
            <a:ext cx="12192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67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D</a:t>
            </a:r>
            <a:endParaRPr lang="en-US" sz="3467" dirty="0"/>
          </a:p>
        </p:txBody>
      </p:sp>
      <p:sp>
        <p:nvSpPr>
          <p:cNvPr id="27" name="Shape 24"/>
          <p:cNvSpPr/>
          <p:nvPr/>
        </p:nvSpPr>
        <p:spPr>
          <a:xfrm>
            <a:off x="5486400" y="1417320"/>
            <a:ext cx="6172200" cy="4572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806440" y="1691640"/>
            <a:ext cx="5577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friend</a:t>
            </a:r>
            <a:endParaRPr lang="en-US" sz="4600" dirty="0"/>
          </a:p>
        </p:txBody>
      </p:sp>
      <p:sp>
        <p:nvSpPr>
          <p:cNvPr id="29" name="Shape 26"/>
          <p:cNvSpPr/>
          <p:nvPr/>
        </p:nvSpPr>
        <p:spPr>
          <a:xfrm>
            <a:off x="5824728" y="2880360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30" name="Text 27"/>
          <p:cNvSpPr/>
          <p:nvPr/>
        </p:nvSpPr>
        <p:spPr>
          <a:xfrm>
            <a:off x="5824728" y="28803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صديق</a:t>
            </a:r>
            <a:endParaRPr lang="en-US" sz="2000" dirty="0"/>
          </a:p>
        </p:txBody>
      </p:sp>
      <p:sp>
        <p:nvSpPr>
          <p:cNvPr id="31" name="Shape 28"/>
          <p:cNvSpPr/>
          <p:nvPr/>
        </p:nvSpPr>
        <p:spPr>
          <a:xfrm>
            <a:off x="5806440" y="3703320"/>
            <a:ext cx="5532120" cy="0"/>
          </a:xfrm>
          <a:prstGeom prst="line">
            <a:avLst/>
          </a:prstGeom>
          <a:noFill/>
          <a:ln w="19050">
            <a:solidFill>
              <a:srgbClr val="EEE2D0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5806440" y="3886200"/>
            <a:ext cx="5577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b="1" spc="200" kern="0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SAY IT
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i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"You are my friend!"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5824728" y="5212080"/>
            <a:ext cx="2468880" cy="365760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/>
        </p:spPr>
      </p:sp>
      <p:sp>
        <p:nvSpPr>
          <p:cNvPr id="34" name="Text 31"/>
          <p:cNvSpPr/>
          <p:nvPr/>
        </p:nvSpPr>
        <p:spPr>
          <a:xfrm>
            <a:off x="5824728" y="52120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Listen → Repeat ×3</a:t>
            </a:r>
            <a:endParaRPr lang="en-US" sz="1200" dirty="0"/>
          </a:p>
        </p:txBody>
      </p:sp>
      <p:pic>
        <p:nvPicPr>
          <p:cNvPr id="35" name="Image 1" descr="/home/claude/Lumio-English/assets/scenes/chars/sara-explai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30118" y="5212080"/>
            <a:ext cx="1011044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Practice • friend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17 / 26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965960" y="1417320"/>
            <a:ext cx="8229600" cy="420624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331720" y="16459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Can you say it?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2331720" y="251460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"You are my friend!"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2350008" y="3611880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11" name="Text 8"/>
          <p:cNvSpPr/>
          <p:nvPr/>
        </p:nvSpPr>
        <p:spPr>
          <a:xfrm>
            <a:off x="2350008" y="36118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صديق</a:t>
            </a:r>
            <a:endParaRPr lang="en-US" sz="1600" dirty="0"/>
          </a:p>
        </p:txBody>
      </p:sp>
      <p:pic>
        <p:nvPicPr>
          <p:cNvPr id="12" name="Image 1" descr="/home/claude/Lumio-English/assets/scenes/chars/omar-poi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3413097"/>
            <a:ext cx="2011680" cy="3170583"/>
          </a:xfrm>
          <a:prstGeom prst="rect">
            <a:avLst/>
          </a:prstGeom>
        </p:spPr>
      </p:pic>
      <p:pic>
        <p:nvPicPr>
          <p:cNvPr id="13" name="Image 2" descr="/home/claude/Lumio-English/assets/scenes/chars/noor-thumb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94276" y="2926080"/>
            <a:ext cx="20016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Listen and Repeat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18 / 26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2514600" y="1051560"/>
            <a:ext cx="7132320" cy="51206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880360" y="128016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My turn, your turn!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2880360" y="2148840"/>
            <a:ext cx="6400800" cy="0"/>
          </a:xfrm>
          <a:prstGeom prst="line">
            <a:avLst/>
          </a:prstGeom>
          <a:noFill/>
          <a:ln w="15875">
            <a:solidFill>
              <a:srgbClr val="EEE2D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880360" y="2286000"/>
            <a:ext cx="64008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1. name
</a:t>
            </a:r>
            <a:endParaRPr lang="en-US" sz="17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2. I
</a:t>
            </a:r>
            <a:endParaRPr lang="en-US" sz="17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3. you
</a:t>
            </a:r>
            <a:endParaRPr lang="en-US" sz="17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4. boy
</a:t>
            </a:r>
            <a:endParaRPr lang="en-US" sz="17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5. girl
</a:t>
            </a:r>
            <a:endParaRPr lang="en-US" sz="17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6. friend
</a:t>
            </a:r>
            <a:endParaRPr lang="en-US" sz="1700" dirty="0"/>
          </a:p>
        </p:txBody>
      </p:sp>
      <p:pic>
        <p:nvPicPr>
          <p:cNvPr id="11" name="Image 1" descr="/home/claude/Lumio-English/assets/scenes/chars/sara-clap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51104" y="2926080"/>
            <a:ext cx="1442224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Your Turn • Round 1 of 3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19 / 26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4023360" y="1188720"/>
            <a:ext cx="4114800" cy="41148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160520" y="1325880"/>
            <a:ext cx="3840480" cy="3200400"/>
          </a:xfrm>
          <a:prstGeom prst="roundRect">
            <a:avLst>
              <a:gd name="adj" fmla="val 3429"/>
            </a:avLst>
          </a:prstGeom>
          <a:solidFill>
            <a:srgbClr val="FFF8F0"/>
          </a:solidFill>
          <a:ln/>
        </p:spPr>
      </p:sp>
      <p:sp>
        <p:nvSpPr>
          <p:cNvPr id="9" name="Shape 6"/>
          <p:cNvSpPr/>
          <p:nvPr/>
        </p:nvSpPr>
        <p:spPr>
          <a:xfrm>
            <a:off x="4389120" y="2537460"/>
            <a:ext cx="777240" cy="777240"/>
          </a:xfrm>
          <a:prstGeom prst="roundRect">
            <a:avLst>
              <a:gd name="adj" fmla="val 11765"/>
            </a:avLst>
          </a:prstGeom>
          <a:solidFill>
            <a:srgbClr val="F97316"/>
          </a:solidFill>
          <a:ln/>
        </p:spPr>
      </p:sp>
      <p:sp>
        <p:nvSpPr>
          <p:cNvPr id="10" name="Text 7"/>
          <p:cNvSpPr/>
          <p:nvPr/>
        </p:nvSpPr>
        <p:spPr>
          <a:xfrm>
            <a:off x="4389120" y="253746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1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N</a:t>
            </a:r>
            <a:endParaRPr lang="en-US" sz="2210" dirty="0"/>
          </a:p>
        </p:txBody>
      </p:sp>
      <p:sp>
        <p:nvSpPr>
          <p:cNvPr id="11" name="Shape 8"/>
          <p:cNvSpPr/>
          <p:nvPr/>
        </p:nvSpPr>
        <p:spPr>
          <a:xfrm>
            <a:off x="5257800" y="2537460"/>
            <a:ext cx="777240" cy="777240"/>
          </a:xfrm>
          <a:prstGeom prst="roundRect">
            <a:avLst>
              <a:gd name="adj" fmla="val 11765"/>
            </a:avLst>
          </a:prstGeom>
          <a:solidFill>
            <a:srgbClr val="0D9488"/>
          </a:solidFill>
          <a:ln/>
        </p:spPr>
      </p:sp>
      <p:sp>
        <p:nvSpPr>
          <p:cNvPr id="12" name="Text 9"/>
          <p:cNvSpPr/>
          <p:nvPr/>
        </p:nvSpPr>
        <p:spPr>
          <a:xfrm>
            <a:off x="5257800" y="253746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1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A</a:t>
            </a:r>
            <a:endParaRPr lang="en-US" sz="2210" dirty="0"/>
          </a:p>
        </p:txBody>
      </p:sp>
      <p:sp>
        <p:nvSpPr>
          <p:cNvPr id="13" name="Shape 10"/>
          <p:cNvSpPr/>
          <p:nvPr/>
        </p:nvSpPr>
        <p:spPr>
          <a:xfrm>
            <a:off x="6126480" y="2537460"/>
            <a:ext cx="777240" cy="777240"/>
          </a:xfrm>
          <a:prstGeom prst="roundRect">
            <a:avLst>
              <a:gd name="adj" fmla="val 11765"/>
            </a:avLst>
          </a:prstGeom>
          <a:solidFill>
            <a:srgbClr val="F59E0B"/>
          </a:solidFill>
          <a:ln/>
        </p:spPr>
      </p:sp>
      <p:sp>
        <p:nvSpPr>
          <p:cNvPr id="14" name="Text 11"/>
          <p:cNvSpPr/>
          <p:nvPr/>
        </p:nvSpPr>
        <p:spPr>
          <a:xfrm>
            <a:off x="6126480" y="253746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1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M</a:t>
            </a:r>
            <a:endParaRPr lang="en-US" sz="2210" dirty="0"/>
          </a:p>
        </p:txBody>
      </p:sp>
      <p:sp>
        <p:nvSpPr>
          <p:cNvPr id="15" name="Shape 12"/>
          <p:cNvSpPr/>
          <p:nvPr/>
        </p:nvSpPr>
        <p:spPr>
          <a:xfrm>
            <a:off x="6995160" y="2537460"/>
            <a:ext cx="777240" cy="777240"/>
          </a:xfrm>
          <a:prstGeom prst="roundRect">
            <a:avLst>
              <a:gd name="adj" fmla="val 11765"/>
            </a:avLst>
          </a:prstGeom>
          <a:solidFill>
            <a:srgbClr val="115E59"/>
          </a:solidFill>
          <a:ln/>
        </p:spPr>
      </p:sp>
      <p:sp>
        <p:nvSpPr>
          <p:cNvPr id="16" name="Text 13"/>
          <p:cNvSpPr/>
          <p:nvPr/>
        </p:nvSpPr>
        <p:spPr>
          <a:xfrm>
            <a:off x="6995160" y="253746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1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E</a:t>
            </a:r>
            <a:endParaRPr lang="en-US" sz="2210" dirty="0"/>
          </a:p>
        </p:txBody>
      </p:sp>
      <p:sp>
        <p:nvSpPr>
          <p:cNvPr id="17" name="Text 14"/>
          <p:cNvSpPr/>
          <p:nvPr/>
        </p:nvSpPr>
        <p:spPr>
          <a:xfrm>
            <a:off x="4160520" y="461772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What is this?</a:t>
            </a:r>
            <a:endParaRPr lang="en-US" sz="2000" dirty="0"/>
          </a:p>
        </p:txBody>
      </p:sp>
      <p:pic>
        <p:nvPicPr>
          <p:cNvPr id="18" name="Image 1" descr="/home/claude/Lumio-English/assets/scenes/chars/omar-th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9634" y="2743200"/>
            <a:ext cx="1801053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Your Turn • Round 2 of 3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20 / 26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4023360" y="1188720"/>
            <a:ext cx="4114800" cy="41148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160520" y="1325880"/>
            <a:ext cx="3840480" cy="3200400"/>
          </a:xfrm>
          <a:prstGeom prst="roundRect">
            <a:avLst>
              <a:gd name="adj" fmla="val 3429"/>
            </a:avLst>
          </a:prstGeom>
          <a:solidFill>
            <a:srgbClr val="FFF8F0"/>
          </a:solidFill>
          <a:ln/>
        </p:spPr>
      </p:sp>
      <p:sp>
        <p:nvSpPr>
          <p:cNvPr id="9" name="Shape 6"/>
          <p:cNvSpPr/>
          <p:nvPr/>
        </p:nvSpPr>
        <p:spPr>
          <a:xfrm>
            <a:off x="5303520" y="2148840"/>
            <a:ext cx="1554480" cy="1554480"/>
          </a:xfrm>
          <a:prstGeom prst="roundRect">
            <a:avLst>
              <a:gd name="adj" fmla="val 5882"/>
            </a:avLst>
          </a:prstGeom>
          <a:solidFill>
            <a:srgbClr val="F97316"/>
          </a:solidFill>
          <a:ln/>
        </p:spPr>
      </p:sp>
      <p:sp>
        <p:nvSpPr>
          <p:cNvPr id="10" name="Text 7"/>
          <p:cNvSpPr/>
          <p:nvPr/>
        </p:nvSpPr>
        <p:spPr>
          <a:xfrm>
            <a:off x="5303520" y="214884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I</a:t>
            </a:r>
            <a:endParaRPr lang="en-US" sz="3600" dirty="0"/>
          </a:p>
        </p:txBody>
      </p:sp>
      <p:sp>
        <p:nvSpPr>
          <p:cNvPr id="11" name="Text 8"/>
          <p:cNvSpPr/>
          <p:nvPr/>
        </p:nvSpPr>
        <p:spPr>
          <a:xfrm>
            <a:off x="4160520" y="461772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What is this?</a:t>
            </a:r>
            <a:endParaRPr lang="en-US" sz="2000" dirty="0"/>
          </a:p>
        </p:txBody>
      </p:sp>
      <p:pic>
        <p:nvPicPr>
          <p:cNvPr id="12" name="Image 1" descr="/home/claude/Lumio-English/assets/scenes/chars/omar-th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9634" y="2743200"/>
            <a:ext cx="1801053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Your Turn • Round 3 of 3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21 / 26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4023360" y="1188720"/>
            <a:ext cx="4114800" cy="41148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160520" y="1325880"/>
            <a:ext cx="3840480" cy="3200400"/>
          </a:xfrm>
          <a:prstGeom prst="roundRect">
            <a:avLst>
              <a:gd name="adj" fmla="val 3429"/>
            </a:avLst>
          </a:prstGeom>
          <a:solidFill>
            <a:srgbClr val="FFF8F0"/>
          </a:solidFill>
          <a:ln/>
        </p:spPr>
      </p:sp>
      <p:sp>
        <p:nvSpPr>
          <p:cNvPr id="9" name="Shape 6"/>
          <p:cNvSpPr/>
          <p:nvPr/>
        </p:nvSpPr>
        <p:spPr>
          <a:xfrm>
            <a:off x="4389120" y="2392680"/>
            <a:ext cx="1066800" cy="1066800"/>
          </a:xfrm>
          <a:prstGeom prst="roundRect">
            <a:avLst>
              <a:gd name="adj" fmla="val 8571"/>
            </a:avLst>
          </a:prstGeom>
          <a:solidFill>
            <a:srgbClr val="F97316"/>
          </a:solidFill>
          <a:ln/>
        </p:spPr>
      </p:sp>
      <p:sp>
        <p:nvSpPr>
          <p:cNvPr id="10" name="Text 7"/>
          <p:cNvSpPr/>
          <p:nvPr/>
        </p:nvSpPr>
        <p:spPr>
          <a:xfrm>
            <a:off x="4389120" y="2392680"/>
            <a:ext cx="106680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33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Y</a:t>
            </a:r>
            <a:endParaRPr lang="en-US" sz="3033" dirty="0"/>
          </a:p>
        </p:txBody>
      </p:sp>
      <p:sp>
        <p:nvSpPr>
          <p:cNvPr id="11" name="Shape 8"/>
          <p:cNvSpPr/>
          <p:nvPr/>
        </p:nvSpPr>
        <p:spPr>
          <a:xfrm>
            <a:off x="5547360" y="2392680"/>
            <a:ext cx="1066800" cy="1066800"/>
          </a:xfrm>
          <a:prstGeom prst="roundRect">
            <a:avLst>
              <a:gd name="adj" fmla="val 8571"/>
            </a:avLst>
          </a:prstGeom>
          <a:solidFill>
            <a:srgbClr val="0D9488"/>
          </a:solidFill>
          <a:ln/>
        </p:spPr>
      </p:sp>
      <p:sp>
        <p:nvSpPr>
          <p:cNvPr id="12" name="Text 9"/>
          <p:cNvSpPr/>
          <p:nvPr/>
        </p:nvSpPr>
        <p:spPr>
          <a:xfrm>
            <a:off x="5547360" y="2392680"/>
            <a:ext cx="106680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33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O</a:t>
            </a:r>
            <a:endParaRPr lang="en-US" sz="3033" dirty="0"/>
          </a:p>
        </p:txBody>
      </p:sp>
      <p:sp>
        <p:nvSpPr>
          <p:cNvPr id="13" name="Shape 10"/>
          <p:cNvSpPr/>
          <p:nvPr/>
        </p:nvSpPr>
        <p:spPr>
          <a:xfrm>
            <a:off x="6705600" y="2392680"/>
            <a:ext cx="1066800" cy="1066800"/>
          </a:xfrm>
          <a:prstGeom prst="roundRect">
            <a:avLst>
              <a:gd name="adj" fmla="val 8571"/>
            </a:avLst>
          </a:prstGeom>
          <a:solidFill>
            <a:srgbClr val="F59E0B"/>
          </a:solidFill>
          <a:ln/>
        </p:spPr>
      </p:sp>
      <p:sp>
        <p:nvSpPr>
          <p:cNvPr id="14" name="Text 11"/>
          <p:cNvSpPr/>
          <p:nvPr/>
        </p:nvSpPr>
        <p:spPr>
          <a:xfrm>
            <a:off x="6705600" y="2392680"/>
            <a:ext cx="106680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33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U</a:t>
            </a:r>
            <a:endParaRPr lang="en-US" sz="3033" dirty="0"/>
          </a:p>
        </p:txBody>
      </p:sp>
      <p:sp>
        <p:nvSpPr>
          <p:cNvPr id="15" name="Text 12"/>
          <p:cNvSpPr/>
          <p:nvPr/>
        </p:nvSpPr>
        <p:spPr>
          <a:xfrm>
            <a:off x="4160520" y="461772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What is this?</a:t>
            </a:r>
            <a:endParaRPr lang="en-US" sz="2000" dirty="0"/>
          </a:p>
        </p:txBody>
      </p:sp>
      <p:pic>
        <p:nvPicPr>
          <p:cNvPr id="16" name="Image 1" descr="/home/claude/Lumio-English/assets/scenes/chars/omar-thin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9634" y="2743200"/>
            <a:ext cx="1801053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Game • Quiz 1 of 3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22 / 26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280160" y="1097280"/>
            <a:ext cx="9601200" cy="128016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600200" y="1234440"/>
            <a:ext cx="9052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"What is your ____?"  — My name is Adam.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1248156" y="2834640"/>
            <a:ext cx="3017520" cy="237744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345436" y="3063240"/>
            <a:ext cx="822960" cy="82296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1" name="Text 8"/>
          <p:cNvSpPr/>
          <p:nvPr/>
        </p:nvSpPr>
        <p:spPr>
          <a:xfrm>
            <a:off x="2345436" y="30632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A</a:t>
            </a:r>
            <a:endParaRPr lang="en-US" sz="2600" dirty="0"/>
          </a:p>
        </p:txBody>
      </p:sp>
      <p:sp>
        <p:nvSpPr>
          <p:cNvPr id="12" name="Text 9"/>
          <p:cNvSpPr/>
          <p:nvPr/>
        </p:nvSpPr>
        <p:spPr>
          <a:xfrm>
            <a:off x="1385316" y="402336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name</a:t>
            </a:r>
            <a:endParaRPr lang="en-US" sz="1700" dirty="0"/>
          </a:p>
        </p:txBody>
      </p:sp>
      <p:sp>
        <p:nvSpPr>
          <p:cNvPr id="13" name="Shape 10"/>
          <p:cNvSpPr/>
          <p:nvPr/>
        </p:nvSpPr>
        <p:spPr>
          <a:xfrm>
            <a:off x="4585716" y="2834640"/>
            <a:ext cx="3017520" cy="237744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682996" y="3063240"/>
            <a:ext cx="822960" cy="82296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5" name="Text 12"/>
          <p:cNvSpPr/>
          <p:nvPr/>
        </p:nvSpPr>
        <p:spPr>
          <a:xfrm>
            <a:off x="5682996" y="30632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B</a:t>
            </a:r>
            <a:endParaRPr lang="en-US" sz="2600" dirty="0"/>
          </a:p>
        </p:txBody>
      </p:sp>
      <p:sp>
        <p:nvSpPr>
          <p:cNvPr id="16" name="Text 13"/>
          <p:cNvSpPr/>
          <p:nvPr/>
        </p:nvSpPr>
        <p:spPr>
          <a:xfrm>
            <a:off x="4722876" y="402336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boy</a:t>
            </a:r>
            <a:endParaRPr lang="en-US" sz="1700" dirty="0"/>
          </a:p>
        </p:txBody>
      </p:sp>
      <p:sp>
        <p:nvSpPr>
          <p:cNvPr id="17" name="Shape 14"/>
          <p:cNvSpPr/>
          <p:nvPr/>
        </p:nvSpPr>
        <p:spPr>
          <a:xfrm>
            <a:off x="7923276" y="2834640"/>
            <a:ext cx="3017520" cy="237744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9020556" y="3063240"/>
            <a:ext cx="822960" cy="82296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9" name="Text 16"/>
          <p:cNvSpPr/>
          <p:nvPr/>
        </p:nvSpPr>
        <p:spPr>
          <a:xfrm>
            <a:off x="9020556" y="30632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C</a:t>
            </a:r>
            <a:endParaRPr lang="en-US" sz="2600" dirty="0"/>
          </a:p>
        </p:txBody>
      </p:sp>
      <p:sp>
        <p:nvSpPr>
          <p:cNvPr id="20" name="Text 17"/>
          <p:cNvSpPr/>
          <p:nvPr/>
        </p:nvSpPr>
        <p:spPr>
          <a:xfrm>
            <a:off x="8060436" y="402336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girl</a:t>
            </a:r>
            <a:endParaRPr lang="en-US" sz="1700" dirty="0"/>
          </a:p>
        </p:txBody>
      </p:sp>
      <p:pic>
        <p:nvPicPr>
          <p:cNvPr id="21" name="Image 1" descr="/home/claude/Lumio-English/assets/scenes/chars/sara-poi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88472" y="5120640"/>
            <a:ext cx="877217" cy="155448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Game • Quiz 2 of 3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23 / 26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280160" y="1097280"/>
            <a:ext cx="9601200" cy="128016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600200" y="1234440"/>
            <a:ext cx="9052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Which word means "بنت"?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1248156" y="2834640"/>
            <a:ext cx="3017520" cy="237744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345436" y="3063240"/>
            <a:ext cx="822960" cy="82296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1" name="Text 8"/>
          <p:cNvSpPr/>
          <p:nvPr/>
        </p:nvSpPr>
        <p:spPr>
          <a:xfrm>
            <a:off x="2345436" y="30632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A</a:t>
            </a:r>
            <a:endParaRPr lang="en-US" sz="2600" dirty="0"/>
          </a:p>
        </p:txBody>
      </p:sp>
      <p:sp>
        <p:nvSpPr>
          <p:cNvPr id="12" name="Text 9"/>
          <p:cNvSpPr/>
          <p:nvPr/>
        </p:nvSpPr>
        <p:spPr>
          <a:xfrm>
            <a:off x="1385316" y="402336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friend</a:t>
            </a:r>
            <a:endParaRPr lang="en-US" sz="1700" dirty="0"/>
          </a:p>
        </p:txBody>
      </p:sp>
      <p:sp>
        <p:nvSpPr>
          <p:cNvPr id="13" name="Shape 10"/>
          <p:cNvSpPr/>
          <p:nvPr/>
        </p:nvSpPr>
        <p:spPr>
          <a:xfrm>
            <a:off x="4585716" y="2834640"/>
            <a:ext cx="3017520" cy="237744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682996" y="3063240"/>
            <a:ext cx="822960" cy="82296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5" name="Text 12"/>
          <p:cNvSpPr/>
          <p:nvPr/>
        </p:nvSpPr>
        <p:spPr>
          <a:xfrm>
            <a:off x="5682996" y="30632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B</a:t>
            </a:r>
            <a:endParaRPr lang="en-US" sz="2600" dirty="0"/>
          </a:p>
        </p:txBody>
      </p:sp>
      <p:sp>
        <p:nvSpPr>
          <p:cNvPr id="16" name="Text 13"/>
          <p:cNvSpPr/>
          <p:nvPr/>
        </p:nvSpPr>
        <p:spPr>
          <a:xfrm>
            <a:off x="4722876" y="402336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name</a:t>
            </a:r>
            <a:endParaRPr lang="en-US" sz="1700" dirty="0"/>
          </a:p>
        </p:txBody>
      </p:sp>
      <p:sp>
        <p:nvSpPr>
          <p:cNvPr id="17" name="Shape 14"/>
          <p:cNvSpPr/>
          <p:nvPr/>
        </p:nvSpPr>
        <p:spPr>
          <a:xfrm>
            <a:off x="7923276" y="2834640"/>
            <a:ext cx="3017520" cy="237744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9020556" y="3063240"/>
            <a:ext cx="822960" cy="82296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9" name="Text 16"/>
          <p:cNvSpPr/>
          <p:nvPr/>
        </p:nvSpPr>
        <p:spPr>
          <a:xfrm>
            <a:off x="9020556" y="30632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C</a:t>
            </a:r>
            <a:endParaRPr lang="en-US" sz="2600" dirty="0"/>
          </a:p>
        </p:txBody>
      </p:sp>
      <p:sp>
        <p:nvSpPr>
          <p:cNvPr id="20" name="Text 17"/>
          <p:cNvSpPr/>
          <p:nvPr/>
        </p:nvSpPr>
        <p:spPr>
          <a:xfrm>
            <a:off x="8060436" y="402336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girl</a:t>
            </a:r>
            <a:endParaRPr lang="en-US" sz="1700" dirty="0"/>
          </a:p>
        </p:txBody>
      </p:sp>
      <p:pic>
        <p:nvPicPr>
          <p:cNvPr id="21" name="Image 1" descr="/home/claude/Lumio-English/assets/scenes/chars/sara-poi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88472" y="5120640"/>
            <a:ext cx="877217" cy="155448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Game • Quiz 3 of 3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24 / 26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280160" y="1097280"/>
            <a:ext cx="9601200" cy="128016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600200" y="1234440"/>
            <a:ext cx="9052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Which word means "صديق"?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1248156" y="2834640"/>
            <a:ext cx="3017520" cy="237744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345436" y="3063240"/>
            <a:ext cx="822960" cy="82296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1" name="Text 8"/>
          <p:cNvSpPr/>
          <p:nvPr/>
        </p:nvSpPr>
        <p:spPr>
          <a:xfrm>
            <a:off x="2345436" y="30632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A</a:t>
            </a:r>
            <a:endParaRPr lang="en-US" sz="2600" dirty="0"/>
          </a:p>
        </p:txBody>
      </p:sp>
      <p:sp>
        <p:nvSpPr>
          <p:cNvPr id="12" name="Text 9"/>
          <p:cNvSpPr/>
          <p:nvPr/>
        </p:nvSpPr>
        <p:spPr>
          <a:xfrm>
            <a:off x="1385316" y="402336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girl</a:t>
            </a:r>
            <a:endParaRPr lang="en-US" sz="1700" dirty="0"/>
          </a:p>
        </p:txBody>
      </p:sp>
      <p:sp>
        <p:nvSpPr>
          <p:cNvPr id="13" name="Shape 10"/>
          <p:cNvSpPr/>
          <p:nvPr/>
        </p:nvSpPr>
        <p:spPr>
          <a:xfrm>
            <a:off x="4585716" y="2834640"/>
            <a:ext cx="3017520" cy="237744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682996" y="3063240"/>
            <a:ext cx="822960" cy="82296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5" name="Text 12"/>
          <p:cNvSpPr/>
          <p:nvPr/>
        </p:nvSpPr>
        <p:spPr>
          <a:xfrm>
            <a:off x="5682996" y="30632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B</a:t>
            </a:r>
            <a:endParaRPr lang="en-US" sz="2600" dirty="0"/>
          </a:p>
        </p:txBody>
      </p:sp>
      <p:sp>
        <p:nvSpPr>
          <p:cNvPr id="16" name="Text 13"/>
          <p:cNvSpPr/>
          <p:nvPr/>
        </p:nvSpPr>
        <p:spPr>
          <a:xfrm>
            <a:off x="4722876" y="402336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I</a:t>
            </a:r>
            <a:endParaRPr lang="en-US" sz="1700" dirty="0"/>
          </a:p>
        </p:txBody>
      </p:sp>
      <p:sp>
        <p:nvSpPr>
          <p:cNvPr id="17" name="Shape 14"/>
          <p:cNvSpPr/>
          <p:nvPr/>
        </p:nvSpPr>
        <p:spPr>
          <a:xfrm>
            <a:off x="7923276" y="2834640"/>
            <a:ext cx="3017520" cy="237744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9020556" y="3063240"/>
            <a:ext cx="822960" cy="82296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9" name="Text 16"/>
          <p:cNvSpPr/>
          <p:nvPr/>
        </p:nvSpPr>
        <p:spPr>
          <a:xfrm>
            <a:off x="9020556" y="30632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C</a:t>
            </a:r>
            <a:endParaRPr lang="en-US" sz="2600" dirty="0"/>
          </a:p>
        </p:txBody>
      </p:sp>
      <p:sp>
        <p:nvSpPr>
          <p:cNvPr id="20" name="Text 17"/>
          <p:cNvSpPr/>
          <p:nvPr/>
        </p:nvSpPr>
        <p:spPr>
          <a:xfrm>
            <a:off x="8060436" y="402336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friend</a:t>
            </a:r>
            <a:endParaRPr lang="en-US" sz="1700" dirty="0"/>
          </a:p>
        </p:txBody>
      </p:sp>
      <p:pic>
        <p:nvPicPr>
          <p:cNvPr id="21" name="Image 1" descr="/home/claude/Lumio-English/assets/scenes/chars/sara-poi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88472" y="5120640"/>
            <a:ext cx="877217" cy="155448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Reward Time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25 / 26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2880360" y="1371600"/>
            <a:ext cx="6400800" cy="384048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0" y="1600200"/>
            <a:ext cx="5760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97316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Great job!</a:t>
            </a:r>
            <a:endParaRPr lang="en-US" sz="3000" dirty="0"/>
          </a:p>
        </p:txBody>
      </p:sp>
      <p:sp>
        <p:nvSpPr>
          <p:cNvPr id="9" name="Text 6"/>
          <p:cNvSpPr/>
          <p:nvPr/>
        </p:nvSpPr>
        <p:spPr>
          <a:xfrm>
            <a:off x="3200400" y="2606040"/>
            <a:ext cx="5760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F59E0B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★  ★  ★  ★  ★</a:t>
            </a:r>
            <a:endParaRPr lang="en-US" sz="3200" dirty="0"/>
          </a:p>
        </p:txBody>
      </p:sp>
      <p:sp>
        <p:nvSpPr>
          <p:cNvPr id="10" name="Text 7"/>
          <p:cNvSpPr/>
          <p:nvPr/>
        </p:nvSpPr>
        <p:spPr>
          <a:xfrm>
            <a:off x="3200400" y="352044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You earned 5 stars!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3337560" y="4297680"/>
            <a:ext cx="548640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12" name="Text 9"/>
          <p:cNvSpPr/>
          <p:nvPr/>
        </p:nvSpPr>
        <p:spPr>
          <a:xfrm>
            <a:off x="3337560" y="42976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Play Lesson 2 online to keep your streak!</a:t>
            </a:r>
            <a:endParaRPr lang="en-US" sz="1200" dirty="0"/>
          </a:p>
        </p:txBody>
      </p:sp>
      <p:pic>
        <p:nvPicPr>
          <p:cNvPr id="13" name="Image 1" descr="/home/claude/Lumio-English/assets/scenes/chars/lumi-celebra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3916680"/>
            <a:ext cx="2423160" cy="2667000"/>
          </a:xfrm>
          <a:prstGeom prst="rect">
            <a:avLst/>
          </a:prstGeom>
        </p:spPr>
      </p:pic>
      <p:pic>
        <p:nvPicPr>
          <p:cNvPr id="14" name="Image 2" descr="/home/claude/Lumio-English/assets/scenes/chars/noor-celebra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12789" y="3566160"/>
            <a:ext cx="2198813" cy="301752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Homework &amp; Goodbye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26 / 26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2514600" y="1051560"/>
            <a:ext cx="7132320" cy="51206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880360" y="128016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See you next time!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2880360" y="2148840"/>
            <a:ext cx="6400800" cy="0"/>
          </a:xfrm>
          <a:prstGeom prst="line">
            <a:avLst/>
          </a:prstGeom>
          <a:noFill/>
          <a:ln w="15875">
            <a:solidFill>
              <a:srgbClr val="EEE2D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880360" y="2286000"/>
            <a:ext cx="64008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1. Play Lesson 2 on Lumio English
</a:t>
            </a:r>
            <a:endParaRPr lang="en-US" sz="17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2. Say each word to your family
</a:t>
            </a:r>
            <a:endParaRPr lang="en-US" sz="17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3. Earn your three stars!
</a:t>
            </a:r>
            <a:endParaRPr lang="en-US" sz="1700" dirty="0"/>
          </a:p>
        </p:txBody>
      </p:sp>
      <p:pic>
        <p:nvPicPr>
          <p:cNvPr id="11" name="Image 1" descr="/home/claude/Lumio-English/assets/scenes/chars/omar-wav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3134859"/>
            <a:ext cx="2057400" cy="3448821"/>
          </a:xfrm>
          <a:prstGeom prst="rect">
            <a:avLst/>
          </a:prstGeom>
        </p:spPr>
      </p:pic>
      <p:pic>
        <p:nvPicPr>
          <p:cNvPr id="12" name="Image 2" descr="/home/claude/Lumio-English/assets/scenes/chars/sara-wav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00903" y="2926080"/>
            <a:ext cx="1942626" cy="3657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Pre-A Lesson 2 — My Name</dc:title>
  <dc:subject>PptxGenJS Presentation</dc:subject>
  <dc:creator>Lumio English</dc:creator>
  <cp:lastModifiedBy>Lumio English</cp:lastModifiedBy>
  <cp:revision>1</cp:revision>
  <dcterms:created xsi:type="dcterms:W3CDTF">2026-07-14T08:11:21Z</dcterms:created>
  <dcterms:modified xsi:type="dcterms:W3CDTF">2026-07-14T08:11:21Z</dcterms:modified>
</cp:coreProperties>
</file>