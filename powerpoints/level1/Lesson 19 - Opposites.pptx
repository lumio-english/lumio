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</p:sldIdLst>
  <p:notesMasterIdLst>
    <p:notesMasterId r:id="rId31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notesMaster" Target="notesMasters/notesMaster1.xml"/><Relationship Id="rId32" Type="http://schemas.openxmlformats.org/officeDocument/2006/relationships/presProps" Target="presProps.xml"/><Relationship Id="rId33" Type="http://schemas.openxmlformats.org/officeDocument/2006/relationships/viewProps" Target="viewProps.xml"/><Relationship Id="rId34" Type="http://schemas.openxmlformats.org/officeDocument/2006/relationships/theme" Target="theme/theme1.xml"/><Relationship Id="rId3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the class. Today: Opposites. Goal: I can describe things using opposites..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Warm greeting. Set a positive, energetic tone.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Read goals aloud. Keep energy up.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2-3 minutes, high energy, physical movement.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Preview words quickly. Don't teach yet, just build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"hot" x2, choral repeat x3. Meaning: حار. Sentence: It is hot..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"cold" x2, choral repeat x3. Meaning: بارد. Sentence: It is cold..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"fast" x2, choral repeat x3. Meaning: سريع. Sentence: The car is fast..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"slow" x2, choral repeat x3. Meaning: بطيء. Sentence: The turtle is slow..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"happy" x2, choral repeat x3. Meaning: سعيد. Sentence: I am happy..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"sad" x2, choral repeat x3. Meaning: حزين. Sentence: I am sad..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"s..."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"clean" x2, choral repeat x3. Meaning: نظيف. Sentence: The room is clean..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"dirty" x2, choral repeat x3. Meaning: متسخ. Sentence: The shoes are dirty..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on a student. Give first-sound hint if needed: "d..."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and say each word, students repeat.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hot (حار). Hint if needed: "h..."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cold (بارد). Hint if needed: "c..."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Call a student by name. Answer: fast (سريع). Hint if needed: "f..."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clean.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Answer: dirty. Count down 5-4-3-2-1 for excitement.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Celebrate! Praise students by name if time allows.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Assign homework. Warm goodbye.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2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4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8-3.jpg"/><Relationship Id="rId4" Type="http://schemas.openxmlformats.org/officeDocument/2006/relationships/image" Target="../media/image-4-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0-3.jp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6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8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10-3.jpg"/><Relationship Id="rId4" Type="http://schemas.openxmlformats.org/officeDocument/2006/relationships/image" Target="../media/image-2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image" Target="../media/Slide-1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image" Target="../media/Slide-2-image-1.jpeg"/><Relationship Id="rId2" Type="http://schemas.openxmlformats.org/officeDocument/2006/relationships/image" Target="../media/image-1-2.png"/><Relationship Id="rId3" Type="http://schemas.openxmlformats.org/officeDocument/2006/relationships/image" Target="../media/image-29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Shape 2"/>
          <p:cNvSpPr/>
          <p:nvPr/>
        </p:nvSpPr>
        <p:spPr>
          <a:xfrm>
            <a:off x="10771632" y="320040"/>
            <a:ext cx="960120" cy="960120"/>
          </a:xfrm>
          <a:prstGeom prst="ellipse">
            <a:avLst/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10771632" y="320040"/>
            <a:ext cx="960120" cy="960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8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LESSON
</a:t>
            </a:r>
            <a:endParaRPr lang="en-US" sz="800" dirty="0"/>
          </a:p>
          <a:p>
            <a:pPr algn="ctr" indent="0" marL="0">
              <a:lnSpc>
                <a:spcPts val="1800"/>
              </a:lnSpc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548640" y="4160520"/>
            <a:ext cx="6035040" cy="2286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68680" y="4343400"/>
            <a:ext cx="5486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OPPOSITES</a:t>
            </a:r>
            <a:endParaRPr lang="en-US" sz="3200" dirty="0"/>
          </a:p>
        </p:txBody>
      </p:sp>
      <p:sp>
        <p:nvSpPr>
          <p:cNvPr id="9" name="Text 6"/>
          <p:cNvSpPr/>
          <p:nvPr/>
        </p:nvSpPr>
        <p:spPr>
          <a:xfrm>
            <a:off x="868680" y="5166360"/>
            <a:ext cx="53949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hot  •  cold  •  fast  •  slow  •  happy  •  sad  •  clean  •  dirty</a:t>
            </a:r>
            <a:endParaRPr lang="en-US" sz="1300" dirty="0"/>
          </a:p>
        </p:txBody>
      </p:sp>
      <p:sp>
        <p:nvSpPr>
          <p:cNvPr id="10" name="Shape 7"/>
          <p:cNvSpPr/>
          <p:nvPr/>
        </p:nvSpPr>
        <p:spPr>
          <a:xfrm>
            <a:off x="868680" y="5806440"/>
            <a:ext cx="420624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868680" y="5806440"/>
            <a:ext cx="4206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LEVEL 1  ·  8 NEW WORDS</a:t>
            </a:r>
            <a:endParaRPr lang="en-US" sz="1100" dirty="0"/>
          </a:p>
        </p:txBody>
      </p:sp>
      <p:pic>
        <p:nvPicPr>
          <p:cNvPr id="12" name="Image 1" descr="/home/claude/Lumio-English/assets/scenes/chars/lumi-her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23760" y="1854802"/>
            <a:ext cx="4480560" cy="482031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Welcome to Lumio English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Hello, little star!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Teacher says: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"Hello! Today we learn 8 new words!"
</a:t>
            </a:r>
            <a:endParaRPr lang="en-US" sz="1700" dirty="0"/>
          </a:p>
        </p:txBody>
      </p:sp>
      <p:pic>
        <p:nvPicPr>
          <p:cNvPr id="11" name="Image 1" descr="/home/claude/Lumio-English/assets/scenes/chars/lumi-wave-boo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4309039"/>
            <a:ext cx="2057400" cy="227464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Today's Goals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By the end, you will: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Say 8 new words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I can describe things using opposites.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Play games and earn stars
</a:t>
            </a:r>
            <a:endParaRPr lang="en-US" sz="1700" dirty="0"/>
          </a:p>
        </p:txBody>
      </p:sp>
      <p:pic>
        <p:nvPicPr>
          <p:cNvPr id="11" name="Image 1" descr="/home/claude/Lumio-English/assets/scenes/chars/lumi-book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572244"/>
            <a:ext cx="2057400" cy="3011436"/>
          </a:xfrm>
          <a:prstGeom prst="rect">
            <a:avLst/>
          </a:prstGeom>
        </p:spPr>
      </p:pic>
      <p:pic>
        <p:nvPicPr>
          <p:cNvPr id="12" name="Image 2" descr="/home/claude/Lumio-English/assets/scenes/chars/sara-teach-boar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4463661"/>
            <a:ext cx="2084832" cy="2120019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Warm-up • Opposites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Let's get ready!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Stand up and stretch!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hello to a friend.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Clap your hands three times!
</a:t>
            </a:r>
            <a:endParaRPr lang="en-US" sz="1700" dirty="0"/>
          </a:p>
        </p:txBody>
      </p:sp>
      <p:pic>
        <p:nvPicPr>
          <p:cNvPr id="11" name="Image 1" descr="/home/claude/Lumio-English/assets/scenes/chars/oma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9911" y="2926080"/>
            <a:ext cx="1766217" cy="3657600"/>
          </a:xfrm>
          <a:prstGeom prst="rect">
            <a:avLst/>
          </a:prstGeom>
        </p:spPr>
      </p:pic>
      <p:pic>
        <p:nvPicPr>
          <p:cNvPr id="12" name="Image 2" descr="/home/claude/Lumio-English/assets/scenes/chars/noor-jump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29800" y="3576250"/>
            <a:ext cx="2084832" cy="30074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Words for Today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new words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hot  —  حار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cold  —  بارد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fast  —  سريع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slow  —  بطيء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  —  سعيد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  —  حزين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clean  —  نظيف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dirty  —  متسخ
</a:t>
            </a:r>
            <a:endParaRPr lang="en-US" sz="1400" dirty="0"/>
          </a:p>
        </p:txBody>
      </p:sp>
      <p:pic>
        <p:nvPicPr>
          <p:cNvPr id="11" name="Image 1" descr="/home/claude/Lumio-English/assets/scenes/chars/lumi-teach-boar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29800" y="4359143"/>
            <a:ext cx="2084832" cy="2224537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ho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hot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حار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hot."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hot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hot."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55448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554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حار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cold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col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cold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بارد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cold."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cold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"It is cold."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بارد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fast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fas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fast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سريع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car is fast."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sara-explain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fast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car is fast."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سريع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slow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slow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بطيء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turtle is slow."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slow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turtle is slow."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بطيء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243840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243840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96012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115E59"/>
          </a:solidFill>
          <a:ln/>
        </p:spPr>
      </p:sp>
      <p:sp>
        <p:nvSpPr>
          <p:cNvPr id="24" name="Text 21"/>
          <p:cNvSpPr/>
          <p:nvPr/>
        </p:nvSpPr>
        <p:spPr>
          <a:xfrm>
            <a:off x="96012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</a:t>
            </a:r>
            <a:endParaRPr lang="en-US" sz="3467" dirty="0"/>
          </a:p>
        </p:txBody>
      </p:sp>
      <p:sp>
        <p:nvSpPr>
          <p:cNvPr id="25" name="Shape 22"/>
          <p:cNvSpPr/>
          <p:nvPr/>
        </p:nvSpPr>
        <p:spPr>
          <a:xfrm>
            <a:off x="2270760" y="374904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C2410C"/>
          </a:solidFill>
          <a:ln/>
        </p:spPr>
      </p:sp>
      <p:sp>
        <p:nvSpPr>
          <p:cNvPr id="26" name="Text 23"/>
          <p:cNvSpPr/>
          <p:nvPr/>
        </p:nvSpPr>
        <p:spPr>
          <a:xfrm>
            <a:off x="2270760" y="374904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</a:t>
            </a:r>
            <a:endParaRPr lang="en-US" sz="3467" dirty="0"/>
          </a:p>
        </p:txBody>
      </p:sp>
      <p:sp>
        <p:nvSpPr>
          <p:cNvPr id="27" name="Shape 24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happy</a:t>
            </a:r>
            <a:endParaRPr lang="en-US" sz="4600" dirty="0"/>
          </a:p>
        </p:txBody>
      </p:sp>
      <p:sp>
        <p:nvSpPr>
          <p:cNvPr id="29" name="Shape 26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2000" dirty="0"/>
          </a:p>
        </p:txBody>
      </p:sp>
      <p:sp>
        <p:nvSpPr>
          <p:cNvPr id="31" name="Shape 28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happy."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4" name="Text 31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5" name="Image 1" descr="/home/claude/Lumio-English/assets/scenes/chars/noor-happy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happy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happy."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سعيد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sad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6" name="Shape 13"/>
          <p:cNvSpPr/>
          <p:nvPr/>
        </p:nvSpPr>
        <p:spPr>
          <a:xfrm>
            <a:off x="685800" y="1554480"/>
            <a:ext cx="4389120" cy="4297680"/>
          </a:xfrm>
          <a:prstGeom prst="roundRect">
            <a:avLst>
              <a:gd name="adj" fmla="val 2553"/>
            </a:avLst>
          </a:prstGeom>
          <a:solidFill>
            <a:srgbClr val="FFF8F0"/>
          </a:solidFill>
          <a:ln/>
        </p:spPr>
      </p:sp>
      <p:sp>
        <p:nvSpPr>
          <p:cNvPr id="17" name="Shape 14"/>
          <p:cNvSpPr/>
          <p:nvPr/>
        </p:nvSpPr>
        <p:spPr>
          <a:xfrm>
            <a:off x="96012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97316"/>
          </a:solidFill>
          <a:ln/>
        </p:spPr>
      </p:sp>
      <p:sp>
        <p:nvSpPr>
          <p:cNvPr id="18" name="Text 15"/>
          <p:cNvSpPr/>
          <p:nvPr/>
        </p:nvSpPr>
        <p:spPr>
          <a:xfrm>
            <a:off x="96012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</a:t>
            </a:r>
            <a:endParaRPr lang="en-US" sz="3467" dirty="0"/>
          </a:p>
        </p:txBody>
      </p:sp>
      <p:sp>
        <p:nvSpPr>
          <p:cNvPr id="19" name="Shape 16"/>
          <p:cNvSpPr/>
          <p:nvPr/>
        </p:nvSpPr>
        <p:spPr>
          <a:xfrm>
            <a:off x="227076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0D9488"/>
          </a:solidFill>
          <a:ln/>
        </p:spPr>
      </p:sp>
      <p:sp>
        <p:nvSpPr>
          <p:cNvPr id="20" name="Text 17"/>
          <p:cNvSpPr/>
          <p:nvPr/>
        </p:nvSpPr>
        <p:spPr>
          <a:xfrm>
            <a:off x="227076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3467" dirty="0"/>
          </a:p>
        </p:txBody>
      </p:sp>
      <p:sp>
        <p:nvSpPr>
          <p:cNvPr id="21" name="Shape 18"/>
          <p:cNvSpPr/>
          <p:nvPr/>
        </p:nvSpPr>
        <p:spPr>
          <a:xfrm>
            <a:off x="3581400" y="3093720"/>
            <a:ext cx="1219200" cy="1219200"/>
          </a:xfrm>
          <a:prstGeom prst="roundRect">
            <a:avLst>
              <a:gd name="adj" fmla="val 7500"/>
            </a:avLst>
          </a:prstGeom>
          <a:solidFill>
            <a:srgbClr val="F59E0B"/>
          </a:solidFill>
          <a:ln/>
        </p:spPr>
      </p:sp>
      <p:sp>
        <p:nvSpPr>
          <p:cNvPr id="22" name="Text 19"/>
          <p:cNvSpPr/>
          <p:nvPr/>
        </p:nvSpPr>
        <p:spPr>
          <a:xfrm>
            <a:off x="3581400" y="3093720"/>
            <a:ext cx="1219200" cy="1219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467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</a:t>
            </a:r>
            <a:endParaRPr lang="en-US" sz="3467" dirty="0"/>
          </a:p>
        </p:txBody>
      </p:sp>
      <p:sp>
        <p:nvSpPr>
          <p:cNvPr id="23" name="Shape 20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</a:t>
            </a:r>
            <a:endParaRPr lang="en-US" sz="4600" dirty="0"/>
          </a:p>
        </p:txBody>
      </p:sp>
      <p:sp>
        <p:nvSpPr>
          <p:cNvPr id="25" name="Shape 22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6" name="Text 23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حزين</a:t>
            </a:r>
            <a:endParaRPr lang="en-US" sz="2000" dirty="0"/>
          </a:p>
        </p:txBody>
      </p:sp>
      <p:sp>
        <p:nvSpPr>
          <p:cNvPr id="27" name="Shape 24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sad."</a:t>
            </a:r>
            <a:endParaRPr lang="en-US" sz="1000" dirty="0"/>
          </a:p>
        </p:txBody>
      </p:sp>
      <p:sp>
        <p:nvSpPr>
          <p:cNvPr id="29" name="Shape 26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30" name="Text 27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31" name="Image 1" descr="/home/claude/Lumio-English/assets/scenes/chars/sara-explain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0118" y="5212080"/>
            <a:ext cx="1011044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sad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"I am sad."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حزين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clean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28016" cy="128016"/>
          </a:xfrm>
          <a:prstGeom prst="ellipse">
            <a:avLst/>
          </a:prstGeom>
          <a:solidFill>
            <a:srgbClr val="EADFCE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clean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clean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نظيف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room is clean."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oma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82397" y="5212080"/>
            <a:ext cx="706487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clean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room is clean."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نظيف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Vocabulary • dirty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20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8" name="Shape 5"/>
          <p:cNvSpPr/>
          <p:nvPr/>
        </p:nvSpPr>
        <p:spPr>
          <a:xfrm>
            <a:off x="22402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9" name="Shape 6"/>
          <p:cNvSpPr/>
          <p:nvPr/>
        </p:nvSpPr>
        <p:spPr>
          <a:xfrm>
            <a:off x="251460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0" name="Shape 7"/>
          <p:cNvSpPr/>
          <p:nvPr/>
        </p:nvSpPr>
        <p:spPr>
          <a:xfrm>
            <a:off x="278892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Shape 8"/>
          <p:cNvSpPr/>
          <p:nvPr/>
        </p:nvSpPr>
        <p:spPr>
          <a:xfrm>
            <a:off x="306324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3" name="Shape 10"/>
          <p:cNvSpPr/>
          <p:nvPr/>
        </p:nvSpPr>
        <p:spPr>
          <a:xfrm>
            <a:off x="3611880" y="960120"/>
            <a:ext cx="128016" cy="128016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4" name="Shape 11"/>
          <p:cNvSpPr/>
          <p:nvPr/>
        </p:nvSpPr>
        <p:spPr>
          <a:xfrm>
            <a:off x="3886200" y="960120"/>
            <a:ext cx="182880" cy="18288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5" name="Shape 12"/>
          <p:cNvSpPr/>
          <p:nvPr/>
        </p:nvSpPr>
        <p:spPr>
          <a:xfrm>
            <a:off x="548640" y="1417320"/>
            <a:ext cx="4663440" cy="4572000"/>
          </a:xfrm>
          <a:prstGeom prst="roundRect">
            <a:avLst>
              <a:gd name="adj" fmla="val 3200"/>
            </a:avLst>
          </a:prstGeom>
          <a:solidFill>
            <a:srgbClr val="FFF8F0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16" name="Image 1" descr="/home/claude/Lumio-English/assets/vocab/dirty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685800" y="1554480"/>
            <a:ext cx="4389120" cy="4297680"/>
          </a:xfrm>
          <a:prstGeom prst="rect">
            <a:avLst/>
          </a:prstGeom>
        </p:spPr>
      </p:pic>
      <p:sp>
        <p:nvSpPr>
          <p:cNvPr id="17" name="Shape 13"/>
          <p:cNvSpPr/>
          <p:nvPr/>
        </p:nvSpPr>
        <p:spPr>
          <a:xfrm>
            <a:off x="5486400" y="1417320"/>
            <a:ext cx="6172200" cy="4572000"/>
          </a:xfrm>
          <a:prstGeom prst="roundRect">
            <a:avLst>
              <a:gd name="adj" fmla="val 320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Text 14"/>
          <p:cNvSpPr/>
          <p:nvPr/>
        </p:nvSpPr>
        <p:spPr>
          <a:xfrm>
            <a:off x="5806440" y="1691640"/>
            <a:ext cx="55778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6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dirty</a:t>
            </a:r>
            <a:endParaRPr lang="en-US" sz="4600" dirty="0"/>
          </a:p>
        </p:txBody>
      </p:sp>
      <p:sp>
        <p:nvSpPr>
          <p:cNvPr id="19" name="Shape 15"/>
          <p:cNvSpPr/>
          <p:nvPr/>
        </p:nvSpPr>
        <p:spPr>
          <a:xfrm>
            <a:off x="5824728" y="288036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20" name="Text 16"/>
          <p:cNvSpPr/>
          <p:nvPr/>
        </p:nvSpPr>
        <p:spPr>
          <a:xfrm>
            <a:off x="5824728" y="288036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متسخ</a:t>
            </a:r>
            <a:endParaRPr lang="en-US" sz="2000" dirty="0"/>
          </a:p>
        </p:txBody>
      </p:sp>
      <p:sp>
        <p:nvSpPr>
          <p:cNvPr id="21" name="Shape 17"/>
          <p:cNvSpPr/>
          <p:nvPr/>
        </p:nvSpPr>
        <p:spPr>
          <a:xfrm>
            <a:off x="5806440" y="3703320"/>
            <a:ext cx="5532120" cy="0"/>
          </a:xfrm>
          <a:prstGeom prst="line">
            <a:avLst/>
          </a:prstGeom>
          <a:noFill/>
          <a:ln w="19050">
            <a:solidFill>
              <a:srgbClr val="EEE2D0"/>
            </a:solidFill>
            <a:prstDash val="solid"/>
          </a:ln>
        </p:spPr>
      </p:sp>
      <p:sp>
        <p:nvSpPr>
          <p:cNvPr id="22" name="Text 18"/>
          <p:cNvSpPr/>
          <p:nvPr/>
        </p:nvSpPr>
        <p:spPr>
          <a:xfrm>
            <a:off x="5806440" y="3886200"/>
            <a:ext cx="557784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b="1" spc="200" kern="0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SAY IT
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600" b="1" i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shoes are dirty."</a:t>
            </a:r>
            <a:endParaRPr lang="en-US" sz="1000" dirty="0"/>
          </a:p>
        </p:txBody>
      </p:sp>
      <p:sp>
        <p:nvSpPr>
          <p:cNvPr id="23" name="Shape 19"/>
          <p:cNvSpPr/>
          <p:nvPr/>
        </p:nvSpPr>
        <p:spPr>
          <a:xfrm>
            <a:off x="5824728" y="5212080"/>
            <a:ext cx="2468880" cy="365760"/>
          </a:xfrm>
          <a:prstGeom prst="roundRect">
            <a:avLst>
              <a:gd name="adj" fmla="val 50000"/>
            </a:avLst>
          </a:prstGeom>
          <a:solidFill>
            <a:srgbClr val="F97316"/>
          </a:solidFill>
          <a:ln/>
        </p:spPr>
      </p:sp>
      <p:sp>
        <p:nvSpPr>
          <p:cNvPr id="24" name="Text 20"/>
          <p:cNvSpPr/>
          <p:nvPr/>
        </p:nvSpPr>
        <p:spPr>
          <a:xfrm>
            <a:off x="5824728" y="5212080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→ Repeat ×3</a:t>
            </a:r>
            <a:endParaRPr lang="en-US" sz="1200" dirty="0"/>
          </a:p>
        </p:txBody>
      </p:sp>
      <p:pic>
        <p:nvPicPr>
          <p:cNvPr id="25" name="Image 2" descr="/home/claude/Lumio-English/assets/scenes/chars/noor-happy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490200" y="5212080"/>
            <a:ext cx="690880" cy="146304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Practice • dirty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21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965960" y="1417320"/>
            <a:ext cx="8229600" cy="4206240"/>
          </a:xfrm>
          <a:prstGeom prst="roundRect">
            <a:avLst>
              <a:gd name="adj" fmla="val 3478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331720" y="1645920"/>
            <a:ext cx="74980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Can you say it?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2331720" y="2514600"/>
            <a:ext cx="7498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i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"The shoes are dirty."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2350008" y="3611880"/>
            <a:ext cx="173736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1" name="Text 8"/>
          <p:cNvSpPr/>
          <p:nvPr/>
        </p:nvSpPr>
        <p:spPr>
          <a:xfrm>
            <a:off x="2350008" y="3611880"/>
            <a:ext cx="1737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متسخ</a:t>
            </a:r>
            <a:endParaRPr lang="en-US" sz="1600" dirty="0"/>
          </a:p>
        </p:txBody>
      </p:sp>
      <p:pic>
        <p:nvPicPr>
          <p:cNvPr id="12" name="Image 1" descr="/home/claude/Lumio-English/assets/scenes/chars/omar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413097"/>
            <a:ext cx="2011680" cy="3170583"/>
          </a:xfrm>
          <a:prstGeom prst="rect">
            <a:avLst/>
          </a:prstGeom>
        </p:spPr>
      </p:pic>
      <p:pic>
        <p:nvPicPr>
          <p:cNvPr id="13" name="Image 2" descr="/home/claude/Lumio-English/assets/scenes/chars/noor-thumb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94276" y="2926080"/>
            <a:ext cx="20016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Listen and Repeat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22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My turn, your turn!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hot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cold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fast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4. slow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5. happy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6. sad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7. clean
</a:t>
            </a:r>
            <a:endParaRPr lang="en-US" sz="1400" dirty="0"/>
          </a:p>
          <a:p>
            <a:pPr indent="0" marL="0">
              <a:spcAft>
                <a:spcPts val="600"/>
              </a:spcAft>
              <a:buNone/>
            </a:pPr>
            <a:r>
              <a:rPr lang="en-US" sz="1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8. dirty
</a:t>
            </a:r>
            <a:endParaRPr lang="en-US" sz="1400" dirty="0"/>
          </a:p>
        </p:txBody>
      </p:sp>
      <p:pic>
        <p:nvPicPr>
          <p:cNvPr id="11" name="Image 1" descr="/home/claude/Lumio-English/assets/scenes/chars/sara-clap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51104" y="2926080"/>
            <a:ext cx="1442224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1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23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ho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2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24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cold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Your Turn • Round 3 of 3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25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4023360" y="1188720"/>
            <a:ext cx="4114800" cy="4114800"/>
          </a:xfrm>
          <a:prstGeom prst="roundRect">
            <a:avLst>
              <a:gd name="adj" fmla="val 3556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pic>
        <p:nvPicPr>
          <p:cNvPr id="8" name="Image 1" descr="/home/claude/Lumio-English/assets/vocab/fast.jp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160520" y="1325880"/>
            <a:ext cx="3840480" cy="32004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4160520" y="4617720"/>
            <a:ext cx="38404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What is this?</a:t>
            </a:r>
            <a:endParaRPr lang="en-US" sz="2000" dirty="0"/>
          </a:p>
        </p:txBody>
      </p:sp>
      <p:pic>
        <p:nvPicPr>
          <p:cNvPr id="10" name="Image 2" descr="/home/claude/Lumio-English/assets/scenes/chars/omar-thin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634" y="2743200"/>
            <a:ext cx="1801053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1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26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"نظيف"?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hot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fast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clean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Game • Quiz 2 of 2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27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1280160" y="1097280"/>
            <a:ext cx="9601200" cy="128016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600200" y="1234440"/>
            <a:ext cx="9052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Which word means "متسخ"?</a:t>
            </a:r>
            <a:endParaRPr lang="en-US" sz="2200" dirty="0"/>
          </a:p>
        </p:txBody>
      </p:sp>
      <p:sp>
        <p:nvSpPr>
          <p:cNvPr id="9" name="Shape 6"/>
          <p:cNvSpPr/>
          <p:nvPr/>
        </p:nvSpPr>
        <p:spPr>
          <a:xfrm>
            <a:off x="124815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2345436" y="3063240"/>
            <a:ext cx="822960" cy="822960"/>
          </a:xfrm>
          <a:prstGeom prst="ellipse">
            <a:avLst/>
          </a:prstGeom>
          <a:solidFill>
            <a:srgbClr val="F97316"/>
          </a:solidFill>
          <a:ln/>
        </p:spPr>
      </p:sp>
      <p:sp>
        <p:nvSpPr>
          <p:cNvPr id="11" name="Text 8"/>
          <p:cNvSpPr/>
          <p:nvPr/>
        </p:nvSpPr>
        <p:spPr>
          <a:xfrm>
            <a:off x="234543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A</a:t>
            </a:r>
            <a:endParaRPr lang="en-US" sz="2600" dirty="0"/>
          </a:p>
        </p:txBody>
      </p:sp>
      <p:sp>
        <p:nvSpPr>
          <p:cNvPr id="12" name="Text 9"/>
          <p:cNvSpPr/>
          <p:nvPr/>
        </p:nvSpPr>
        <p:spPr>
          <a:xfrm>
            <a:off x="138531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sad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458571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5682996" y="3063240"/>
            <a:ext cx="822960" cy="822960"/>
          </a:xfrm>
          <a:prstGeom prst="ellipse">
            <a:avLst/>
          </a:prstGeom>
          <a:solidFill>
            <a:srgbClr val="0D9488"/>
          </a:solidFill>
          <a:ln/>
        </p:spPr>
      </p:sp>
      <p:sp>
        <p:nvSpPr>
          <p:cNvPr id="15" name="Text 12"/>
          <p:cNvSpPr/>
          <p:nvPr/>
        </p:nvSpPr>
        <p:spPr>
          <a:xfrm>
            <a:off x="568299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B</a:t>
            </a:r>
            <a:endParaRPr lang="en-US" sz="2600" dirty="0"/>
          </a:p>
        </p:txBody>
      </p:sp>
      <p:sp>
        <p:nvSpPr>
          <p:cNvPr id="16" name="Text 13"/>
          <p:cNvSpPr/>
          <p:nvPr/>
        </p:nvSpPr>
        <p:spPr>
          <a:xfrm>
            <a:off x="472287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dirty</a:t>
            </a:r>
            <a:endParaRPr lang="en-US" sz="1700" dirty="0"/>
          </a:p>
        </p:txBody>
      </p:sp>
      <p:sp>
        <p:nvSpPr>
          <p:cNvPr id="17" name="Shape 14"/>
          <p:cNvSpPr/>
          <p:nvPr/>
        </p:nvSpPr>
        <p:spPr>
          <a:xfrm>
            <a:off x="7923276" y="2834640"/>
            <a:ext cx="3017520" cy="2377440"/>
          </a:xfrm>
          <a:prstGeom prst="roundRect">
            <a:avLst>
              <a:gd name="adj" fmla="val 6154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9020556" y="3063240"/>
            <a:ext cx="822960" cy="82296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9" name="Text 16"/>
          <p:cNvSpPr/>
          <p:nvPr/>
        </p:nvSpPr>
        <p:spPr>
          <a:xfrm>
            <a:off x="9020556" y="3063240"/>
            <a:ext cx="822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C</a:t>
            </a:r>
            <a:endParaRPr lang="en-US" sz="2600" dirty="0"/>
          </a:p>
        </p:txBody>
      </p:sp>
      <p:sp>
        <p:nvSpPr>
          <p:cNvPr id="20" name="Text 17"/>
          <p:cNvSpPr/>
          <p:nvPr/>
        </p:nvSpPr>
        <p:spPr>
          <a:xfrm>
            <a:off x="8060436" y="4023360"/>
            <a:ext cx="27432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fast</a:t>
            </a:r>
            <a:endParaRPr lang="en-US" sz="1700" dirty="0"/>
          </a:p>
        </p:txBody>
      </p:sp>
      <p:pic>
        <p:nvPicPr>
          <p:cNvPr id="21" name="Image 1" descr="/home/claude/Lumio-English/assets/scenes/chars/sara-point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488472" y="5120640"/>
            <a:ext cx="877217" cy="155448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Reward Time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28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880360" y="1371600"/>
            <a:ext cx="6400800" cy="3840480"/>
          </a:xfrm>
          <a:prstGeom prst="roundRect">
            <a:avLst>
              <a:gd name="adj" fmla="val 3810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3200400" y="1600200"/>
            <a:ext cx="576072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000" b="1" dirty="0">
                <a:solidFill>
                  <a:srgbClr val="F97316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Great job!</a:t>
            </a:r>
            <a:endParaRPr lang="en-US" sz="3000" dirty="0"/>
          </a:p>
        </p:txBody>
      </p:sp>
      <p:sp>
        <p:nvSpPr>
          <p:cNvPr id="9" name="Text 6"/>
          <p:cNvSpPr/>
          <p:nvPr/>
        </p:nvSpPr>
        <p:spPr>
          <a:xfrm>
            <a:off x="3200400" y="260604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dirty="0">
                <a:solidFill>
                  <a:srgbClr val="F59E0B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★  ★  ★  ★  ★</a:t>
            </a:r>
            <a:endParaRPr lang="en-US" sz="3200" dirty="0"/>
          </a:p>
        </p:txBody>
      </p:sp>
      <p:sp>
        <p:nvSpPr>
          <p:cNvPr id="10" name="Text 7"/>
          <p:cNvSpPr/>
          <p:nvPr/>
        </p:nvSpPr>
        <p:spPr>
          <a:xfrm>
            <a:off x="3200400" y="3520440"/>
            <a:ext cx="57607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You earned 5 stars!</a:t>
            </a:r>
            <a:endParaRPr lang="en-US" sz="1800" dirty="0"/>
          </a:p>
        </p:txBody>
      </p:sp>
      <p:sp>
        <p:nvSpPr>
          <p:cNvPr id="11" name="Shape 8"/>
          <p:cNvSpPr/>
          <p:nvPr/>
        </p:nvSpPr>
        <p:spPr>
          <a:xfrm>
            <a:off x="3337560" y="4297680"/>
            <a:ext cx="5486400" cy="365760"/>
          </a:xfrm>
          <a:prstGeom prst="roundRect">
            <a:avLst>
              <a:gd name="adj" fmla="val 50000"/>
            </a:avLst>
          </a:prstGeom>
          <a:solidFill>
            <a:srgbClr val="CCFBF1"/>
          </a:solidFill>
          <a:ln/>
        </p:spPr>
      </p:sp>
      <p:sp>
        <p:nvSpPr>
          <p:cNvPr id="12" name="Text 9"/>
          <p:cNvSpPr/>
          <p:nvPr/>
        </p:nvSpPr>
        <p:spPr>
          <a:xfrm>
            <a:off x="3337560" y="429768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15E59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Play Lesson 19 online to keep your streak!</a:t>
            </a:r>
            <a:endParaRPr lang="en-US" sz="1200" dirty="0"/>
          </a:p>
        </p:txBody>
      </p:sp>
      <p:pic>
        <p:nvPicPr>
          <p:cNvPr id="13" name="Image 1" descr="/home/claude/Lumio-English/assets/scenes/chars/lumi-celebra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916680"/>
            <a:ext cx="2423160" cy="2667000"/>
          </a:xfrm>
          <a:prstGeom prst="rect">
            <a:avLst/>
          </a:prstGeom>
        </p:spPr>
      </p:pic>
      <p:pic>
        <p:nvPicPr>
          <p:cNvPr id="14" name="Image 2" descr="/home/claude/Lumio-English/assets/scenes/chars/noor-celebra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12789" y="3566160"/>
            <a:ext cx="2198813" cy="301752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320040"/>
            <a:ext cx="1417320" cy="566928"/>
          </a:xfrm>
          <a:prstGeom prst="roundRect">
            <a:avLst>
              <a:gd name="adj" fmla="val 22581"/>
            </a:avLst>
          </a:prstGeom>
          <a:solidFill>
            <a:srgbClr val="FFFFFF"/>
          </a:solidFill>
          <a:ln w="15875">
            <a:solidFill>
              <a:srgbClr val="F0E6D8"/>
            </a:solidFill>
            <a:prstDash val="solid"/>
          </a:ln>
        </p:spPr>
      </p:sp>
      <p:pic>
        <p:nvPicPr>
          <p:cNvPr id="3" name="Image 0" descr="/home/claude/Lumio-English/assets/scenes/chars/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402336"/>
            <a:ext cx="402336" cy="402336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932688" y="320040"/>
            <a:ext cx="8046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C2410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Lumio English</a:t>
            </a:r>
            <a:endParaRPr lang="en-US" sz="900" dirty="0"/>
          </a:p>
        </p:txBody>
      </p:sp>
      <p:sp>
        <p:nvSpPr>
          <p:cNvPr id="5" name="Text 2"/>
          <p:cNvSpPr/>
          <p:nvPr/>
        </p:nvSpPr>
        <p:spPr>
          <a:xfrm>
            <a:off x="1965960" y="365760"/>
            <a:ext cx="7315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Homework &amp; Goodbye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634472" y="384048"/>
            <a:ext cx="1188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b="1" dirty="0">
                <a:solidFill>
                  <a:srgbClr val="78716C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29 / 29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2514600" y="1051560"/>
            <a:ext cx="7132320" cy="5120640"/>
          </a:xfrm>
          <a:prstGeom prst="roundRect">
            <a:avLst>
              <a:gd name="adj" fmla="val 2857"/>
            </a:avLst>
          </a:prstGeom>
          <a:solidFill>
            <a:srgbClr val="FFFFFF"/>
          </a:solidFill>
          <a:ln w="19050">
            <a:solidFill>
              <a:srgbClr val="F0E6D8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2880360" y="128016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See you next time!</a:t>
            </a:r>
            <a:endParaRPr lang="en-US" sz="2400" dirty="0"/>
          </a:p>
        </p:txBody>
      </p:sp>
      <p:sp>
        <p:nvSpPr>
          <p:cNvPr id="9" name="Shape 6"/>
          <p:cNvSpPr/>
          <p:nvPr/>
        </p:nvSpPr>
        <p:spPr>
          <a:xfrm>
            <a:off x="2880360" y="2148840"/>
            <a:ext cx="6400800" cy="0"/>
          </a:xfrm>
          <a:prstGeom prst="line">
            <a:avLst/>
          </a:prstGeom>
          <a:noFill/>
          <a:ln w="15875">
            <a:solidFill>
              <a:srgbClr val="EEE2D0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880360" y="2286000"/>
            <a:ext cx="640080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1. Play Lesson 19 on Lumio English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2. Say each word to your family
</a:t>
            </a:r>
            <a:endParaRPr lang="en-US" sz="1700" dirty="0"/>
          </a:p>
          <a:p>
            <a:pPr indent="0" marL="0">
              <a:spcAft>
                <a:spcPts val="1400"/>
              </a:spcAft>
              <a:buNone/>
            </a:pPr>
            <a:r>
              <a:rPr lang="en-US" sz="1700" b="1" dirty="0">
                <a:solidFill>
                  <a:srgbClr val="2D1B0F"/>
                </a:solidFill>
                <a:latin typeface="Baloo 2" pitchFamily="34" charset="0"/>
                <a:ea typeface="Baloo 2" pitchFamily="34" charset="-122"/>
                <a:cs typeface="Baloo 2" pitchFamily="34" charset="-120"/>
              </a:rPr>
              <a:t>3. Earn your three stars!
</a:t>
            </a:r>
            <a:endParaRPr lang="en-US" sz="1700" dirty="0"/>
          </a:p>
        </p:txBody>
      </p:sp>
      <p:pic>
        <p:nvPicPr>
          <p:cNvPr id="11" name="Image 1" descr="/home/claude/Lumio-English/assets/scenes/chars/omar-wav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3134859"/>
            <a:ext cx="2057400" cy="3448821"/>
          </a:xfrm>
          <a:prstGeom prst="rect">
            <a:avLst/>
          </a:prstGeom>
        </p:spPr>
      </p:pic>
      <p:pic>
        <p:nvPicPr>
          <p:cNvPr id="12" name="Image 2" descr="/home/claude/Lumio-English/assets/scenes/chars/sara-wav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00903" y="2926080"/>
            <a:ext cx="1942626" cy="36576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29</Slides>
  <Notes>29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29</vt:i4>
      </vt:variant>
    </vt:vector>
  </HeadingPairs>
  <TitlesOfParts>
    <vt:vector size="3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Level 1 · First Sentences Lesson 19 — Opposites</dc:title>
  <dc:subject>PptxGenJS Presentation</dc:subject>
  <dc:creator>Lumio English</dc:creator>
  <cp:lastModifiedBy>Lumio English</cp:lastModifiedBy>
  <cp:revision>1</cp:revision>
  <dcterms:created xsi:type="dcterms:W3CDTF">2026-07-19T16:34:36Z</dcterms:created>
  <dcterms:modified xsi:type="dcterms:W3CDTF">2026-07-19T16:34:36Z</dcterms:modified>
</cp:coreProperties>
</file>