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class. Today: Numbers 11-20. Goal: I can count from 11 to 20..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 greeting. Set a positive, energetic 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goals aloud. Keep energy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2-3 minutes, high energy, physical movement.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words quickly. Don't teach yet, just build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"eleven" x2, choral repeat x3. Meaning: ١١. Sentence: I have eleven apples..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"e..."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"twelve" x2, choral repeat x3. Meaning: ١٢. Sentence: I see twelve stars..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"t..."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"thirteen" x2, choral repeat x3. Meaning: ١٣. Sentence: Thirteen balloons..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"t..."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"fourteen" x2, choral repeat x3. Meaning: ١٤. Sentence: Fourteen books..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"f..."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"fifteen" x2, choral repeat x3. Meaning: ١٥. Sentence: Fifteen ducks..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"f..."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"sixteen" x2, choral repeat x3. Meaning: ١٦. Sentence: Sixteen cars..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"s..."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"seventeen" x2, choral repeat x3. Meaning: ١٧. Sentence: Seventeen fish..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"s..."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"eighteen" x2, choral repeat x3. Meaning: ١٨. Sentence: Eighteen flowers..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"e..."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"nineteen" x2, choral repeat x3. Meaning: ١٩. Sentence: Nineteen pencils..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"n..."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"twenty" x2, choral repeat x3. Meaning: ٢٠. Sentence: Twenty balls..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"t..."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and say each word, students repeat.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eleven (١١). Hint if needed: "e..."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twelve (١٢). Hint if needed: "t..."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thirteen (١٣). Hint if needed: "t..."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nineteen.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twenty.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Celebrate! Praise students by name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 homework. Warm goodbye.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6-3.jpg"/><Relationship Id="rId4" Type="http://schemas.openxmlformats.org/officeDocument/2006/relationships/image" Target="../media/image-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jp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jp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2-3.jpg"/><Relationship Id="rId4" Type="http://schemas.openxmlformats.org/officeDocument/2006/relationships/image" Target="../media/image-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4-3.jp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6-3.jp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8-3.jpg"/><Relationship Id="rId4" Type="http://schemas.openxmlformats.org/officeDocument/2006/relationships/image" Target="../media/image-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0-3.jp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2-3.jp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4-3.jpg"/><Relationship Id="rId4" Type="http://schemas.openxmlformats.org/officeDocument/2006/relationships/image" Target="../media/image-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6-3.jp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jp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jp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33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0771632" y="320040"/>
            <a:ext cx="960120" cy="9601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771632" y="3200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8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LESSON
</a:t>
            </a:r>
            <a:endParaRPr lang="en-US" sz="8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48640" y="4160520"/>
            <a:ext cx="6035040" cy="2286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434340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NUMBERS 11-20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68680" y="516636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eleven  •  twelve  •  thirteen  •  fourteen  •  fifteen  •  sixteen  •  seventeen  •  eighteen  •  nineteen  •  twenty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680" y="5806440"/>
            <a:ext cx="4206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5806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LEVEL 1  ·  10 NEW WORDS</a:t>
            </a:r>
            <a:endParaRPr lang="en-US" sz="1100" dirty="0"/>
          </a:p>
        </p:txBody>
      </p:sp>
      <p:pic>
        <p:nvPicPr>
          <p:cNvPr id="12" name="Image 1" descr="/home/claude/Lumio-English/assets/scenes/chars/lumi-her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854802"/>
            <a:ext cx="4480560" cy="48203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Welcome to Lumio English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 / 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Hello, little star!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Teacher says: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"Hello! Today we learn 10 new words!"
</a:t>
            </a:r>
            <a:endParaRPr lang="en-US" sz="1700" dirty="0"/>
          </a:p>
        </p:txBody>
      </p:sp>
      <p:pic>
        <p:nvPicPr>
          <p:cNvPr id="11" name="Image 1" descr="/home/claude/Lumio-English/assets/scenes/chars/lumi-wave-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309039"/>
            <a:ext cx="2057400" cy="227464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Today's Goals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 / 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By the end, you will: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Say 10 new words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I can count from 11 to 20.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Play games and earn stars
</a:t>
            </a:r>
            <a:endParaRPr lang="en-US" sz="1700" dirty="0"/>
          </a:p>
        </p:txBody>
      </p:sp>
      <p:pic>
        <p:nvPicPr>
          <p:cNvPr id="11" name="Image 1" descr="/home/claude/Lumio-English/assets/scenes/chars/lumi-book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572244"/>
            <a:ext cx="2057400" cy="3011436"/>
          </a:xfrm>
          <a:prstGeom prst="rect">
            <a:avLst/>
          </a:prstGeom>
        </p:spPr>
      </p:pic>
      <p:pic>
        <p:nvPicPr>
          <p:cNvPr id="12" name="Image 2" descr="/home/claude/Lumio-English/assets/scenes/chars/sara-teach-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4463661"/>
            <a:ext cx="2084832" cy="21200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Warm-up • Numbers 11-20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 / 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Let's get ready!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Stand up and stretch!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hello to a friend.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Clap your hands three times!
</a:t>
            </a:r>
            <a:endParaRPr lang="en-US" sz="1700" dirty="0"/>
          </a:p>
        </p:txBody>
      </p:sp>
      <p:pic>
        <p:nvPicPr>
          <p:cNvPr id="11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911" y="2926080"/>
            <a:ext cx="1766217" cy="3657600"/>
          </a:xfrm>
          <a:prstGeom prst="rect">
            <a:avLst/>
          </a:prstGeom>
        </p:spPr>
      </p:pic>
      <p:pic>
        <p:nvPicPr>
          <p:cNvPr id="12" name="Image 2" descr="/home/claude/Lumio-English/assets/scenes/chars/noor-jum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3576250"/>
            <a:ext cx="2084832" cy="30074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Words for Today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 / 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10 new words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eleven  —  ١١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twelve  —  ١٢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thirteen  —  ١٣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fourteen  —  ١٤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fifteen  —  ١٥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sixteen  —  ١٦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seventeen  —  ١٧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eighteen  —  ١٨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nineteen  —  ١٩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twenty  —  ٢٠
</a:t>
            </a:r>
            <a:endParaRPr lang="en-US" sz="1400" dirty="0"/>
          </a:p>
        </p:txBody>
      </p:sp>
      <p:pic>
        <p:nvPicPr>
          <p:cNvPr id="11" name="Image 1" descr="/home/claude/Lumio-English/assets/scenes/chars/lumi-teach-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4359143"/>
            <a:ext cx="2084832" cy="22245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eleven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 / 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41605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6" name="Shape 13"/>
          <p:cNvSpPr/>
          <p:nvPr/>
        </p:nvSpPr>
        <p:spPr>
          <a:xfrm>
            <a:off x="44348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7" name="Shape 14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8" name="Image 1" descr="/home/claude/Lumio-English/assets/vocab/eleven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eleven</a:t>
            </a:r>
            <a:endParaRPr lang="en-US" sz="4600" dirty="0"/>
          </a:p>
        </p:txBody>
      </p:sp>
      <p:sp>
        <p:nvSpPr>
          <p:cNvPr id="21" name="Shape 17"/>
          <p:cNvSpPr/>
          <p:nvPr/>
        </p:nvSpPr>
        <p:spPr>
          <a:xfrm>
            <a:off x="5824728" y="288036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2" name="Text 18"/>
          <p:cNvSpPr/>
          <p:nvPr/>
        </p:nvSpPr>
        <p:spPr>
          <a:xfrm>
            <a:off x="5824728" y="2880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١١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have eleven apples."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6" name="Text 22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7" name="Image 2" descr="/home/claude/Lumio-English/assets/scenes/chars/omar-happ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eleven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7 / 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have eleven apples."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١١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twelve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8 / 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41605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6" name="Shape 13"/>
          <p:cNvSpPr/>
          <p:nvPr/>
        </p:nvSpPr>
        <p:spPr>
          <a:xfrm>
            <a:off x="44348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7" name="Shape 14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8" name="Image 1" descr="/home/claude/Lumio-English/assets/vocab/twelve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twelve</a:t>
            </a:r>
            <a:endParaRPr lang="en-US" sz="4600" dirty="0"/>
          </a:p>
        </p:txBody>
      </p:sp>
      <p:sp>
        <p:nvSpPr>
          <p:cNvPr id="21" name="Shape 17"/>
          <p:cNvSpPr/>
          <p:nvPr/>
        </p:nvSpPr>
        <p:spPr>
          <a:xfrm>
            <a:off x="5824728" y="288036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2" name="Text 18"/>
          <p:cNvSpPr/>
          <p:nvPr/>
        </p:nvSpPr>
        <p:spPr>
          <a:xfrm>
            <a:off x="5824728" y="2880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١٢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see twelve stars."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6" name="Text 22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7" name="Image 2" descr="/home/claude/Lumio-English/assets/scenes/chars/noor-happ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twelve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9 / 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see twelve stars."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١٢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thirteen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10 / 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41605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6" name="Shape 13"/>
          <p:cNvSpPr/>
          <p:nvPr/>
        </p:nvSpPr>
        <p:spPr>
          <a:xfrm>
            <a:off x="44348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7" name="Shape 14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8" name="Image 1" descr="/home/claude/Lumio-English/assets/vocab/thirteen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thirteen</a:t>
            </a:r>
            <a:endParaRPr lang="en-US" sz="4600" dirty="0"/>
          </a:p>
        </p:txBody>
      </p:sp>
      <p:sp>
        <p:nvSpPr>
          <p:cNvPr id="21" name="Shape 17"/>
          <p:cNvSpPr/>
          <p:nvPr/>
        </p:nvSpPr>
        <p:spPr>
          <a:xfrm>
            <a:off x="5824728" y="288036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2" name="Text 18"/>
          <p:cNvSpPr/>
          <p:nvPr/>
        </p:nvSpPr>
        <p:spPr>
          <a:xfrm>
            <a:off x="5824728" y="2880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١٣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"Thirteen balloons."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6" name="Text 22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7" name="Image 2" descr="/home/claude/Lumio-English/assets/scenes/chars/sara-expla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thirteen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11 / 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"Thirteen balloons."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١٣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fourteen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12 / 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41605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6" name="Shape 13"/>
          <p:cNvSpPr/>
          <p:nvPr/>
        </p:nvSpPr>
        <p:spPr>
          <a:xfrm>
            <a:off x="44348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7" name="Shape 14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8" name="Image 1" descr="/home/claude/Lumio-English/assets/vocab/fourteen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fourteen</a:t>
            </a:r>
            <a:endParaRPr lang="en-US" sz="4600" dirty="0"/>
          </a:p>
        </p:txBody>
      </p:sp>
      <p:sp>
        <p:nvSpPr>
          <p:cNvPr id="21" name="Shape 17"/>
          <p:cNvSpPr/>
          <p:nvPr/>
        </p:nvSpPr>
        <p:spPr>
          <a:xfrm>
            <a:off x="5824728" y="288036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2" name="Text 18"/>
          <p:cNvSpPr/>
          <p:nvPr/>
        </p:nvSpPr>
        <p:spPr>
          <a:xfrm>
            <a:off x="5824728" y="2880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١٤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"Fourteen books."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6" name="Text 22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7" name="Image 2" descr="/home/claude/Lumio-English/assets/scenes/chars/omar-happ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fourteen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13 / 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"Fourteen books."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١٤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fifteen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14 / 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41605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6" name="Shape 13"/>
          <p:cNvSpPr/>
          <p:nvPr/>
        </p:nvSpPr>
        <p:spPr>
          <a:xfrm>
            <a:off x="44348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7" name="Shape 14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8" name="Image 1" descr="/home/claude/Lumio-English/assets/vocab/fifteen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fifteen</a:t>
            </a:r>
            <a:endParaRPr lang="en-US" sz="4600" dirty="0"/>
          </a:p>
        </p:txBody>
      </p:sp>
      <p:sp>
        <p:nvSpPr>
          <p:cNvPr id="21" name="Shape 17"/>
          <p:cNvSpPr/>
          <p:nvPr/>
        </p:nvSpPr>
        <p:spPr>
          <a:xfrm>
            <a:off x="5824728" y="288036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2" name="Text 18"/>
          <p:cNvSpPr/>
          <p:nvPr/>
        </p:nvSpPr>
        <p:spPr>
          <a:xfrm>
            <a:off x="5824728" y="2880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١٥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"Fifteen ducks."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6" name="Text 22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7" name="Image 2" descr="/home/claude/Lumio-English/assets/scenes/chars/noor-happ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fifteen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15 / 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"Fifteen ducks."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١٥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sixteen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16 / 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41605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6" name="Shape 13"/>
          <p:cNvSpPr/>
          <p:nvPr/>
        </p:nvSpPr>
        <p:spPr>
          <a:xfrm>
            <a:off x="44348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7" name="Shape 14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8" name="Image 1" descr="/home/claude/Lumio-English/assets/vocab/sixteen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sixteen</a:t>
            </a:r>
            <a:endParaRPr lang="en-US" sz="4600" dirty="0"/>
          </a:p>
        </p:txBody>
      </p:sp>
      <p:sp>
        <p:nvSpPr>
          <p:cNvPr id="21" name="Shape 17"/>
          <p:cNvSpPr/>
          <p:nvPr/>
        </p:nvSpPr>
        <p:spPr>
          <a:xfrm>
            <a:off x="5824728" y="288036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2" name="Text 18"/>
          <p:cNvSpPr/>
          <p:nvPr/>
        </p:nvSpPr>
        <p:spPr>
          <a:xfrm>
            <a:off x="5824728" y="2880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١٦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"Sixteen cars."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6" name="Text 22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7" name="Image 2" descr="/home/claude/Lumio-English/assets/scenes/chars/sara-expla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sixteen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17 / 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"Sixteen cars."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١٦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seventeen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18 / 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41605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6" name="Shape 13"/>
          <p:cNvSpPr/>
          <p:nvPr/>
        </p:nvSpPr>
        <p:spPr>
          <a:xfrm>
            <a:off x="44348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7" name="Shape 14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8" name="Image 1" descr="/home/claude/Lumio-English/assets/vocab/seventeen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seventeen</a:t>
            </a:r>
            <a:endParaRPr lang="en-US" sz="4600" dirty="0"/>
          </a:p>
        </p:txBody>
      </p:sp>
      <p:sp>
        <p:nvSpPr>
          <p:cNvPr id="21" name="Shape 17"/>
          <p:cNvSpPr/>
          <p:nvPr/>
        </p:nvSpPr>
        <p:spPr>
          <a:xfrm>
            <a:off x="5824728" y="288036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2" name="Text 18"/>
          <p:cNvSpPr/>
          <p:nvPr/>
        </p:nvSpPr>
        <p:spPr>
          <a:xfrm>
            <a:off x="5824728" y="2880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١٧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"Seventeen fish."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6" name="Text 22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7" name="Image 2" descr="/home/claude/Lumio-English/assets/scenes/chars/omar-happ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seventeen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19 / 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"Seventeen fish."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١٧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eighteen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20 / 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5" name="Shape 12"/>
          <p:cNvSpPr/>
          <p:nvPr/>
        </p:nvSpPr>
        <p:spPr>
          <a:xfrm>
            <a:off x="41605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6" name="Shape 13"/>
          <p:cNvSpPr/>
          <p:nvPr/>
        </p:nvSpPr>
        <p:spPr>
          <a:xfrm>
            <a:off x="44348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7" name="Shape 14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8" name="Image 1" descr="/home/claude/Lumio-English/assets/vocab/eighteen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eighteen</a:t>
            </a:r>
            <a:endParaRPr lang="en-US" sz="4600" dirty="0"/>
          </a:p>
        </p:txBody>
      </p:sp>
      <p:sp>
        <p:nvSpPr>
          <p:cNvPr id="21" name="Shape 17"/>
          <p:cNvSpPr/>
          <p:nvPr/>
        </p:nvSpPr>
        <p:spPr>
          <a:xfrm>
            <a:off x="5824728" y="288036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2" name="Text 18"/>
          <p:cNvSpPr/>
          <p:nvPr/>
        </p:nvSpPr>
        <p:spPr>
          <a:xfrm>
            <a:off x="5824728" y="2880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١٨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"Eighteen flowers."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6" name="Text 22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7" name="Image 2" descr="/home/claude/Lumio-English/assets/scenes/chars/noor-happ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eighteen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21 / 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"Eighteen flowers."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١٨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nineteen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22 / 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5" name="Shape 12"/>
          <p:cNvSpPr/>
          <p:nvPr/>
        </p:nvSpPr>
        <p:spPr>
          <a:xfrm>
            <a:off x="416052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6" name="Shape 13"/>
          <p:cNvSpPr/>
          <p:nvPr/>
        </p:nvSpPr>
        <p:spPr>
          <a:xfrm>
            <a:off x="44348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7" name="Shape 14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8" name="Image 1" descr="/home/claude/Lumio-English/assets/vocab/nineteen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nineteen</a:t>
            </a:r>
            <a:endParaRPr lang="en-US" sz="4600" dirty="0"/>
          </a:p>
        </p:txBody>
      </p:sp>
      <p:sp>
        <p:nvSpPr>
          <p:cNvPr id="21" name="Shape 17"/>
          <p:cNvSpPr/>
          <p:nvPr/>
        </p:nvSpPr>
        <p:spPr>
          <a:xfrm>
            <a:off x="5824728" y="288036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2" name="Text 18"/>
          <p:cNvSpPr/>
          <p:nvPr/>
        </p:nvSpPr>
        <p:spPr>
          <a:xfrm>
            <a:off x="5824728" y="2880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١٩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"Nineteen pencils."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6" name="Text 22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7" name="Image 2" descr="/home/claude/Lumio-English/assets/scenes/chars/sara-expla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nineteen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23 / 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"Nineteen pencils."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١٩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twenty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24 / 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5" name="Shape 12"/>
          <p:cNvSpPr/>
          <p:nvPr/>
        </p:nvSpPr>
        <p:spPr>
          <a:xfrm>
            <a:off x="41605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6" name="Shape 13"/>
          <p:cNvSpPr/>
          <p:nvPr/>
        </p:nvSpPr>
        <p:spPr>
          <a:xfrm>
            <a:off x="443484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7" name="Shape 14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8" name="Image 1" descr="/home/claude/Lumio-English/assets/vocab/twenty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twenty</a:t>
            </a:r>
            <a:endParaRPr lang="en-US" sz="4600" dirty="0"/>
          </a:p>
        </p:txBody>
      </p:sp>
      <p:sp>
        <p:nvSpPr>
          <p:cNvPr id="21" name="Shape 17"/>
          <p:cNvSpPr/>
          <p:nvPr/>
        </p:nvSpPr>
        <p:spPr>
          <a:xfrm>
            <a:off x="5824728" y="288036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2" name="Text 18"/>
          <p:cNvSpPr/>
          <p:nvPr/>
        </p:nvSpPr>
        <p:spPr>
          <a:xfrm>
            <a:off x="5824728" y="2880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٢٠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"Twenty balls."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6" name="Text 22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7" name="Image 2" descr="/home/claude/Lumio-English/assets/scenes/chars/omar-happ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twenty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25 / 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"Twenty balls."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٢٠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and Repeat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26 / 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My turn, your turn!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eleven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twelve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thirteen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4. fourteen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5. fifteen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6. sixteen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7. seventeen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8. eighteen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9. nineteen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10. twenty
</a:t>
            </a:r>
            <a:endParaRPr lang="en-US" sz="1400" dirty="0"/>
          </a:p>
        </p:txBody>
      </p:sp>
      <p:pic>
        <p:nvPicPr>
          <p:cNvPr id="11" name="Image 1" descr="/home/claude/Lumio-English/assets/scenes/chars/sara-cl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1104" y="2926080"/>
            <a:ext cx="1442224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1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27 / 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8" name="Image 1" descr="/home/claude/Lumio-English/assets/vocab/eleven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160520" y="1325880"/>
            <a:ext cx="3840480" cy="3200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0" name="Image 2" descr="/home/claude/Lumio-English/assets/scenes/chars/omar-th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2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28 / 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8" name="Image 1" descr="/home/claude/Lumio-English/assets/vocab/twelve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160520" y="1325880"/>
            <a:ext cx="3840480" cy="3200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0" name="Image 2" descr="/home/claude/Lumio-English/assets/scenes/chars/omar-th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3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29 / 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8" name="Image 1" descr="/home/claude/Lumio-English/assets/vocab/thirteen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160520" y="1325880"/>
            <a:ext cx="3840480" cy="3200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0" name="Image 2" descr="/home/claude/Lumio-English/assets/scenes/chars/omar-th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1 of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30 / 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"١٩"?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eighteen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thirteen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nineteen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2 of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31 / 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"٢٠"?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twelve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seventeen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twenty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Reward Time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32 / 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880360" y="1371600"/>
            <a:ext cx="6400800" cy="38404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0" y="16002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Great job!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3200400" y="260604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59E0B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★  ★  ★  ★  ★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3200400" y="35204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 earned 5 stars!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337560" y="4297680"/>
            <a:ext cx="54864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2" name="Text 9"/>
          <p:cNvSpPr/>
          <p:nvPr/>
        </p:nvSpPr>
        <p:spPr>
          <a:xfrm>
            <a:off x="333756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Play Lesson 5 online to keep your streak!</a:t>
            </a:r>
            <a:endParaRPr lang="en-US" sz="1200" dirty="0"/>
          </a:p>
        </p:txBody>
      </p:sp>
      <p:pic>
        <p:nvPicPr>
          <p:cNvPr id="13" name="Image 1" descr="/home/claude/Lumio-English/assets/scenes/chars/lumi-celebr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916680"/>
            <a:ext cx="2423160" cy="2667000"/>
          </a:xfrm>
          <a:prstGeom prst="rect">
            <a:avLst/>
          </a:prstGeom>
        </p:spPr>
      </p:pic>
      <p:pic>
        <p:nvPicPr>
          <p:cNvPr id="14" name="Image 2" descr="/home/claude/Lumio-English/assets/scenes/chars/noor-celebr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2789" y="3566160"/>
            <a:ext cx="2198813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Homework &amp; Goodbye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33 / 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See you next time!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Play Lesson 5 on Lumio English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Say each word to your family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Earn your three stars!
</a:t>
            </a:r>
            <a:endParaRPr lang="en-US" sz="1700" dirty="0"/>
          </a:p>
        </p:txBody>
      </p:sp>
      <p:pic>
        <p:nvPicPr>
          <p:cNvPr id="11" name="Image 1" descr="/home/claude/Lumio-English/assets/scenes/chars/omar-wa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134859"/>
            <a:ext cx="2057400" cy="344882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1 · First Sentences Lesson 5 — Numbers 11-20</dc:title>
  <dc:subject>PptxGenJS Presentation</dc:subject>
  <dc:creator>Lumio English</dc:creator>
  <cp:lastModifiedBy>Lumio English</cp:lastModifiedBy>
  <cp:revision>1</cp:revision>
  <dcterms:created xsi:type="dcterms:W3CDTF">2026-07-19T16:34:26Z</dcterms:created>
  <dcterms:modified xsi:type="dcterms:W3CDTF">2026-07-19T16:34:26Z</dcterms:modified>
</cp:coreProperties>
</file>